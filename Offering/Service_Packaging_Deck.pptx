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956D-4238-D628-7708-27F93337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7F963-32D6-CD6F-2134-82C63147E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AE329-CFEB-647F-87F0-39483737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E12C-9C45-0279-1884-1873109F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60062-EE6E-2C36-3976-156C2939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14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E914-FDED-D04E-1B58-68B2FB05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4D862-7348-867E-3FA1-60AD233E4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A28A8-9933-0E31-CB63-1C18FD04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035F-1615-78B4-5D1C-18270E6D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35A3E-9615-95F6-3D16-2BEBCFCD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4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B839-221C-993E-4255-7086D7AE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CC54F-BE8C-A0DF-428E-A8C7D11BA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FA47E-B869-6559-AA51-2CCDC8FE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F9620-A7DA-BA6A-BD58-EB9CB0CD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080F5-A761-BEE2-35D8-B72343B6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89D60-F3AD-4AD8-7B93-046A0D9B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6B15-F93E-EADD-20DD-6D68F7C03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B0B06-F263-D4B1-47EE-EC5AA724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2EC18-582B-0D16-C34E-2850B1C3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0FD35-C9F9-F261-BF99-D7EA23952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7B74B-0BF8-3E1A-B441-528C4EFC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33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4687-ABB3-343D-1325-53631BE1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7B04F-8AFB-3954-C810-464688A5E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2724B-43FE-01B4-4D6E-90575BDC0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97EDC-A813-952D-954D-67C9A7F78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BCFD5-4097-A7B5-6E15-AA4400ACF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A68EC8-6F16-C1A0-2B64-D6FD84A5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0E150B-5440-0C0B-0807-583031AC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1F261-1DB5-4C1F-8023-DBE2318D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24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B3E7-A4A7-6919-C879-F6D5BEC9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D5D9B-DBE5-557F-3972-EC450AD2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85AFC-D4F6-81AB-2071-C9B0BACD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7A805-C56A-3EF3-BC18-C63A4CFA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C8E2C-C355-3BBF-309B-2D0A2FA1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B8E07-9433-985C-C832-D8F67CD8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DBB1-A486-9343-9C14-497C3B3E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3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C54E-568A-98C5-9F2E-3A103E2AD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3C000-71AB-4588-C9EB-CF0CD82D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FE91F-8902-EF89-4CF1-DAE4340B0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9A131-2A84-4008-4E60-22E19271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20BA0-033F-2712-6EC9-D8A5E62C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1B662-F088-2E24-F190-139977B1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77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57AF-A961-4AF1-303A-13F8706CF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90039-9F78-FA54-6840-1FD84E880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2AA21-BCEB-1231-FBF0-5EEC7C662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1A72B-13FC-E9BD-EFC3-6AC0DD51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B8B77-5DC5-094D-52DE-3ACF8927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7C76A-C3C0-BEAA-7DB8-BAD3480F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73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6D4D-C255-86D8-8EF8-5099D5D7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E548B-D26A-F6A3-4FC7-2D6E3B80F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5AD45-D754-864B-1F4E-BBF88E5C3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E859C-9677-6FE7-9A26-672C6E2B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4E801-E7E1-5BFF-F576-2DB5E1F2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13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72E0F-2184-5FE4-465B-FDD478EED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77EFB-797D-BC9A-B320-41483225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54CE8-F62A-0D56-BE8B-E4AEECB5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31628-C052-5ED7-294C-223BFE5E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1816-9D8D-3B12-76B3-B2ABA145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98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246ECC-72C7-1707-E71D-649D2731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99955-5203-CAAF-7096-811D11C0E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E21D5-2449-B0FB-AB54-AEB6E7834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AB3ED-2C3F-4F55-A48E-546346ECB13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BDCA-1CA7-47D3-158B-613111C4B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8BAAE-C4A8-9D98-C3A6-7F61B65E3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D462F-1A9A-45F1-A0FB-5D28F96B7E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2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C801B2-BAB8-A4F1-D274-EB151D47E77E}"/>
              </a:ext>
            </a:extLst>
          </p:cNvPr>
          <p:cNvSpPr txBox="1"/>
          <p:nvPr/>
        </p:nvSpPr>
        <p:spPr>
          <a:xfrm>
            <a:off x="2286000" y="1524000"/>
            <a:ext cx="762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100" b="1">
                <a:solidFill>
                  <a:srgbClr val="1AC0C6"/>
                </a:solidFill>
                <a:latin typeface="Google Sans"/>
              </a:rPr>
              <a:t>WORKING DRAFT  |  INTERNAL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FFE9D-03C0-4EE4-2C88-307771DF3C9D}"/>
              </a:ext>
            </a:extLst>
          </p:cNvPr>
          <p:cNvSpPr txBox="1"/>
          <p:nvPr/>
        </p:nvSpPr>
        <p:spPr>
          <a:xfrm>
            <a:off x="1016000" y="2159000"/>
            <a:ext cx="10160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Google Sans"/>
              </a:rPr>
              <a:t>The AI and Automation Opportunity Study</a:t>
            </a:r>
            <a:endParaRPr lang="en-IN" sz="4200" b="1">
              <a:solidFill>
                <a:srgbClr val="FFFFFF"/>
              </a:solidFill>
              <a:latin typeface="Google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ED86A-B130-00B4-256F-40C2344FFD29}"/>
              </a:ext>
            </a:extLst>
          </p:cNvPr>
          <p:cNvSpPr txBox="1"/>
          <p:nvPr/>
        </p:nvSpPr>
        <p:spPr>
          <a:xfrm>
            <a:off x="1905000" y="3937000"/>
            <a:ext cx="838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C9D4DF"/>
                </a:solidFill>
                <a:latin typeface="Google Sans"/>
              </a:rPr>
              <a:t>How we describe the service, what a seller walks in with, and why clients choose Techjays.</a:t>
            </a:r>
            <a:endParaRPr lang="en-IN" sz="1700">
              <a:solidFill>
                <a:srgbClr val="C9D4DF"/>
              </a:solidFill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F2C1D-CB7E-DE1D-F901-3D849355B32E}"/>
              </a:ext>
            </a:extLst>
          </p:cNvPr>
          <p:cNvSpPr txBox="1"/>
          <p:nvPr/>
        </p:nvSpPr>
        <p:spPr>
          <a:xfrm>
            <a:off x="4826000" y="5969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275641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C500AB-B92D-2840-26E3-B12AA8D55C52}"/>
              </a:ext>
            </a:extLst>
          </p:cNvPr>
          <p:cNvSpPr/>
          <p:nvPr/>
        </p:nvSpPr>
        <p:spPr>
          <a:xfrm>
            <a:off x="508000" y="330200"/>
            <a:ext cx="1043940" cy="304800"/>
          </a:xfrm>
          <a:prstGeom prst="roundRect">
            <a:avLst>
              <a:gd name="adj" fmla="val 25000"/>
            </a:avLst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Google Sans"/>
              </a:rPr>
              <a:t>The service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2649B-3D28-7370-FFFB-BF5660102484}"/>
              </a:ext>
            </a:extLst>
          </p:cNvPr>
          <p:cNvSpPr txBox="1"/>
          <p:nvPr/>
        </p:nvSpPr>
        <p:spPr>
          <a:xfrm>
            <a:off x="508000" y="762000"/>
            <a:ext cx="11176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42A4A"/>
                </a:solidFill>
                <a:latin typeface="Google Sans"/>
              </a:rPr>
              <a:t>A six to eight week study that turns “we know AI matters” into a costed, prioritized roadmap.</a:t>
            </a:r>
            <a:endParaRPr lang="en-IN" sz="25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CC82C-78E1-9DA1-0DFB-CFC4809438F1}"/>
              </a:ext>
            </a:extLst>
          </p:cNvPr>
          <p:cNvSpPr txBox="1"/>
          <p:nvPr/>
        </p:nvSpPr>
        <p:spPr>
          <a:xfrm>
            <a:off x="508000" y="1625600"/>
            <a:ext cx="1117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283746"/>
                </a:solidFill>
                <a:latin typeface="Google Sans"/>
              </a:rPr>
              <a:t>Fixed fee. We map how the business actually runs, identify where process re-engineering, automation, and AI can grow revenue per employee, and deliver a stack-ranked plan that can be executed immediately, in-house or with us.</a:t>
            </a:r>
            <a:endParaRPr lang="en-IN" sz="12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7FB75-C2E6-566E-8280-E2328F6E6998}"/>
              </a:ext>
            </a:extLst>
          </p:cNvPr>
          <p:cNvSpPr txBox="1"/>
          <p:nvPr/>
        </p:nvSpPr>
        <p:spPr>
          <a:xfrm>
            <a:off x="533400" y="2311400"/>
            <a:ext cx="76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4600" b="1">
                <a:solidFill>
                  <a:srgbClr val="F26B5B"/>
                </a:solidFill>
                <a:latin typeface="Google Sans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FC0C3B-5D9C-C63D-4998-D5953A43764A}"/>
              </a:ext>
            </a:extLst>
          </p:cNvPr>
          <p:cNvSpPr/>
          <p:nvPr/>
        </p:nvSpPr>
        <p:spPr>
          <a:xfrm>
            <a:off x="1397000" y="2413000"/>
            <a:ext cx="10312400" cy="787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57901-2CB6-A361-1A18-E4AD383ACA76}"/>
              </a:ext>
            </a:extLst>
          </p:cNvPr>
          <p:cNvSpPr txBox="1"/>
          <p:nvPr/>
        </p:nvSpPr>
        <p:spPr>
          <a:xfrm>
            <a:off x="1625600" y="2552700"/>
            <a:ext cx="9855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142A4A"/>
                </a:solidFill>
                <a:latin typeface="Google Sans"/>
              </a:rPr>
              <a:t>Most companies are stuck between AI pilots and real impact. The stall is organizational, not technological.</a:t>
            </a:r>
            <a:endParaRPr lang="en-IN" sz="1600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867C9-E6DC-ED7D-9B41-736B02B3FB52}"/>
              </a:ext>
            </a:extLst>
          </p:cNvPr>
          <p:cNvSpPr txBox="1"/>
          <p:nvPr/>
        </p:nvSpPr>
        <p:spPr>
          <a:xfrm>
            <a:off x="533400" y="3327400"/>
            <a:ext cx="76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4600" b="1">
                <a:solidFill>
                  <a:srgbClr val="F26B5B"/>
                </a:solidFill>
                <a:latin typeface="Google Sans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F1629B-AAF7-6903-7BD9-A5804D4A0BA2}"/>
              </a:ext>
            </a:extLst>
          </p:cNvPr>
          <p:cNvSpPr/>
          <p:nvPr/>
        </p:nvSpPr>
        <p:spPr>
          <a:xfrm>
            <a:off x="1397000" y="3429000"/>
            <a:ext cx="10312400" cy="787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B61EA-C570-D3F0-D0DF-1B88A6B7AD57}"/>
              </a:ext>
            </a:extLst>
          </p:cNvPr>
          <p:cNvSpPr txBox="1"/>
          <p:nvPr/>
        </p:nvSpPr>
        <p:spPr>
          <a:xfrm>
            <a:off x="1625600" y="3568700"/>
            <a:ext cx="9855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142A4A"/>
                </a:solidFill>
                <a:latin typeface="Google Sans"/>
              </a:rPr>
              <a:t>We study the business the way engineers do: process by process, quantifying where the leverage is.</a:t>
            </a:r>
            <a:endParaRPr lang="en-IN" sz="1600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0A103-F50E-A806-FAA0-DF2A9C303574}"/>
              </a:ext>
            </a:extLst>
          </p:cNvPr>
          <p:cNvSpPr txBox="1"/>
          <p:nvPr/>
        </p:nvSpPr>
        <p:spPr>
          <a:xfrm>
            <a:off x="533400" y="4343400"/>
            <a:ext cx="76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4600" b="1">
                <a:solidFill>
                  <a:srgbClr val="F26B5B"/>
                </a:solidFill>
                <a:latin typeface="Google Sans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89E67B-6EA7-1CFE-6E00-EE0518D56E16}"/>
              </a:ext>
            </a:extLst>
          </p:cNvPr>
          <p:cNvSpPr/>
          <p:nvPr/>
        </p:nvSpPr>
        <p:spPr>
          <a:xfrm>
            <a:off x="1397000" y="4445000"/>
            <a:ext cx="10312400" cy="787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91732-B25E-5796-3F5D-7CD7B5E3D780}"/>
              </a:ext>
            </a:extLst>
          </p:cNvPr>
          <p:cNvSpPr txBox="1"/>
          <p:nvPr/>
        </p:nvSpPr>
        <p:spPr>
          <a:xfrm>
            <a:off x="1625600" y="4584700"/>
            <a:ext cx="9855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142A4A"/>
                </a:solidFill>
                <a:latin typeface="Google Sans"/>
              </a:rPr>
              <a:t>Leadership gets a prioritized plan with numbers they can defend to their board, in six to eight weeks.</a:t>
            </a:r>
            <a:endParaRPr lang="en-IN" sz="1600">
              <a:solidFill>
                <a:srgbClr val="142A4A"/>
              </a:solidFill>
              <a:latin typeface="Google San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31403F-2C13-0B59-949C-609BE39B252A}"/>
              </a:ext>
            </a:extLst>
          </p:cNvPr>
          <p:cNvCxnSpPr/>
          <p:nvPr/>
        </p:nvCxnSpPr>
        <p:spPr>
          <a:xfrm>
            <a:off x="508000" y="5867400"/>
            <a:ext cx="11176000" cy="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2FA20ED-47AC-60B8-042A-B5E17A5AFB8E}"/>
              </a:ext>
            </a:extLst>
          </p:cNvPr>
          <p:cNvSpPr txBox="1"/>
          <p:nvPr/>
        </p:nvSpPr>
        <p:spPr>
          <a:xfrm>
            <a:off x="508000" y="5969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>
                <a:solidFill>
                  <a:srgbClr val="5B6B7A"/>
                </a:solidFill>
                <a:latin typeface="Google Sans"/>
              </a:rPr>
              <a:t>MIT NANDA, The GenAI Divide 2025: about 95% of enterprise gen AI pilots show little to no measurable P&amp;L impact, attributed to workflow integration, not model quality.</a:t>
            </a:r>
          </a:p>
          <a:p>
            <a:r>
              <a:rPr lang="en-US" sz="850">
                <a:solidFill>
                  <a:srgbClr val="5B6B7A"/>
                </a:solidFill>
                <a:latin typeface="Google Sans"/>
              </a:rPr>
              <a:t>McKinsey, The State of AI 2025: workflow redesign is the strongest of 25 factors driving AI’s bottom-line impact; only 21% of companies have done it.</a:t>
            </a:r>
            <a:endParaRPr lang="en-IN" sz="850">
              <a:solidFill>
                <a:srgbClr val="5B6B7A"/>
              </a:solidFill>
              <a:latin typeface="Google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8B008-5111-577A-614A-F307EBAB12E3}"/>
              </a:ext>
            </a:extLst>
          </p:cNvPr>
          <p:cNvSpPr txBox="1"/>
          <p:nvPr/>
        </p:nvSpPr>
        <p:spPr>
          <a:xfrm>
            <a:off x="10795000" y="64135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300" b="1">
                <a:solidFill>
                  <a:srgbClr val="142A4A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323848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996B9F-9ECC-702D-232E-812CC6A602C6}"/>
              </a:ext>
            </a:extLst>
          </p:cNvPr>
          <p:cNvSpPr/>
          <p:nvPr/>
        </p:nvSpPr>
        <p:spPr>
          <a:xfrm>
            <a:off x="508000" y="330200"/>
            <a:ext cx="1122680" cy="304800"/>
          </a:xfrm>
          <a:prstGeom prst="roundRect">
            <a:avLst>
              <a:gd name="adj" fmla="val 25000"/>
            </a:avLst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Google Sans"/>
              </a:rPr>
              <a:t>How it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38EF8-8308-A0CA-AB64-BA1BB450A516}"/>
              </a:ext>
            </a:extLst>
          </p:cNvPr>
          <p:cNvSpPr txBox="1"/>
          <p:nvPr/>
        </p:nvSpPr>
        <p:spPr>
          <a:xfrm>
            <a:off x="508000" y="762000"/>
            <a:ext cx="1117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42A4A"/>
                </a:solidFill>
                <a:latin typeface="Google Sans"/>
              </a:rPr>
              <a:t>Re-engineer first. Automate next. AI where it changes the economics.</a:t>
            </a:r>
            <a:endParaRPr lang="en-IN" sz="25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3C673-B486-4D46-F623-F5EC25E00E1A}"/>
              </a:ext>
            </a:extLst>
          </p:cNvPr>
          <p:cNvSpPr txBox="1"/>
          <p:nvPr/>
        </p:nvSpPr>
        <p:spPr>
          <a:xfrm>
            <a:off x="508000" y="1600200"/>
            <a:ext cx="11176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283746"/>
                </a:solidFill>
                <a:latin typeface="Google Sans"/>
              </a:rPr>
              <a:t>Every process goes through the same three layers, in order, and every opportunity comes out costed, plotted on return vs effort, and stack-ranked.</a:t>
            </a:r>
            <a:endParaRPr lang="en-IN" sz="12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6E2806-77C8-9C8C-EA39-A376CE65F3E7}"/>
              </a:ext>
            </a:extLst>
          </p:cNvPr>
          <p:cNvSpPr/>
          <p:nvPr/>
        </p:nvSpPr>
        <p:spPr>
          <a:xfrm>
            <a:off x="508000" y="2349500"/>
            <a:ext cx="2603500" cy="1333500"/>
          </a:xfrm>
          <a:prstGeom prst="roundRect">
            <a:avLst>
              <a:gd name="adj" fmla="val 4500"/>
            </a:avLst>
          </a:prstGeom>
          <a:solidFill>
            <a:srgbClr val="D9F1F2"/>
          </a:solidFill>
          <a:ln w="19050">
            <a:solidFill>
              <a:srgbClr val="1AC0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E9222-53A8-7503-0B96-C50385842248}"/>
              </a:ext>
            </a:extLst>
          </p:cNvPr>
          <p:cNvSpPr txBox="1"/>
          <p:nvPr/>
        </p:nvSpPr>
        <p:spPr>
          <a:xfrm>
            <a:off x="660400" y="2489200"/>
            <a:ext cx="22987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50" b="1">
                <a:solidFill>
                  <a:srgbClr val="142A4A"/>
                </a:solidFill>
                <a:latin typeface="Google Sans"/>
              </a:rPr>
              <a:t>Layer 1, Re-engineer: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DAE5D-B2B2-1309-1545-10EA5003D1C0}"/>
              </a:ext>
            </a:extLst>
          </p:cNvPr>
          <p:cNvSpPr txBox="1"/>
          <p:nvPr/>
        </p:nvSpPr>
        <p:spPr>
          <a:xfrm>
            <a:off x="660400" y="2768600"/>
            <a:ext cx="2298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83746"/>
                </a:solidFill>
                <a:latin typeface="Google Sans"/>
              </a:rPr>
              <a:t>simplify the process before any technology is added.</a:t>
            </a:r>
            <a:endParaRPr lang="en-IN" sz="10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DCC37-9D25-5A31-DB4E-1213AB72D7D9}"/>
              </a:ext>
            </a:extLst>
          </p:cNvPr>
          <p:cNvSpPr txBox="1"/>
          <p:nvPr/>
        </p:nvSpPr>
        <p:spPr>
          <a:xfrm>
            <a:off x="3136900" y="28194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1AC0C6"/>
                </a:solidFill>
                <a:latin typeface="Google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EC9B02-7E5D-399B-F367-66788B2739DC}"/>
              </a:ext>
            </a:extLst>
          </p:cNvPr>
          <p:cNvSpPr/>
          <p:nvPr/>
        </p:nvSpPr>
        <p:spPr>
          <a:xfrm>
            <a:off x="3390900" y="2349500"/>
            <a:ext cx="2603500" cy="1333500"/>
          </a:xfrm>
          <a:prstGeom prst="roundRect">
            <a:avLst>
              <a:gd name="adj" fmla="val 4500"/>
            </a:avLst>
          </a:prstGeom>
          <a:solidFill>
            <a:srgbClr val="D9F1F2"/>
          </a:solidFill>
          <a:ln w="19050">
            <a:solidFill>
              <a:srgbClr val="1AC0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13CE5-B8E3-256F-BFE9-D6014BFC59C7}"/>
              </a:ext>
            </a:extLst>
          </p:cNvPr>
          <p:cNvSpPr txBox="1"/>
          <p:nvPr/>
        </p:nvSpPr>
        <p:spPr>
          <a:xfrm>
            <a:off x="3543300" y="2489200"/>
            <a:ext cx="22987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50" b="1">
                <a:solidFill>
                  <a:srgbClr val="142A4A"/>
                </a:solidFill>
                <a:latin typeface="Google Sans"/>
              </a:rPr>
              <a:t>Layer 2, Automate: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54750-B07D-7C7B-0779-102F16D8B40E}"/>
              </a:ext>
            </a:extLst>
          </p:cNvPr>
          <p:cNvSpPr txBox="1"/>
          <p:nvPr/>
        </p:nvSpPr>
        <p:spPr>
          <a:xfrm>
            <a:off x="3543300" y="2768600"/>
            <a:ext cx="2298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83746"/>
                </a:solidFill>
                <a:latin typeface="Google Sans"/>
              </a:rPr>
              <a:t>rules, integrations, and workflow automation where certainty is enough.</a:t>
            </a:r>
            <a:endParaRPr lang="en-IN" sz="10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D9B59-9411-4BED-EF0C-C8E7B7535DFC}"/>
              </a:ext>
            </a:extLst>
          </p:cNvPr>
          <p:cNvSpPr txBox="1"/>
          <p:nvPr/>
        </p:nvSpPr>
        <p:spPr>
          <a:xfrm>
            <a:off x="6019800" y="28194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1AC0C6"/>
                </a:solidFill>
                <a:latin typeface="Google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CA6177-3B31-DE35-A15B-4A75E07B211A}"/>
              </a:ext>
            </a:extLst>
          </p:cNvPr>
          <p:cNvSpPr/>
          <p:nvPr/>
        </p:nvSpPr>
        <p:spPr>
          <a:xfrm>
            <a:off x="6273800" y="2349500"/>
            <a:ext cx="2603500" cy="1333500"/>
          </a:xfrm>
          <a:prstGeom prst="roundRect">
            <a:avLst>
              <a:gd name="adj" fmla="val 4500"/>
            </a:avLst>
          </a:prstGeom>
          <a:solidFill>
            <a:srgbClr val="D9F1F2"/>
          </a:solidFill>
          <a:ln w="19050">
            <a:solidFill>
              <a:srgbClr val="1AC0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9E024-72EC-7959-512E-A5F95BDC0D33}"/>
              </a:ext>
            </a:extLst>
          </p:cNvPr>
          <p:cNvSpPr txBox="1"/>
          <p:nvPr/>
        </p:nvSpPr>
        <p:spPr>
          <a:xfrm>
            <a:off x="6426200" y="2489200"/>
            <a:ext cx="22987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50" b="1">
                <a:solidFill>
                  <a:srgbClr val="142A4A"/>
                </a:solidFill>
                <a:latin typeface="Google Sans"/>
              </a:rPr>
              <a:t>Layer 3, Apply AI: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5910A-5DC4-E0E9-C4AF-E30C2DABD0D4}"/>
              </a:ext>
            </a:extLst>
          </p:cNvPr>
          <p:cNvSpPr txBox="1"/>
          <p:nvPr/>
        </p:nvSpPr>
        <p:spPr>
          <a:xfrm>
            <a:off x="6426200" y="2768600"/>
            <a:ext cx="22987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83746"/>
                </a:solidFill>
                <a:latin typeface="Google Sans"/>
              </a:rPr>
              <a:t>including agents, where judgment, language, and 24/7 operation genuinely pay.</a:t>
            </a:r>
            <a:endParaRPr lang="en-IN" sz="10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257AE7-6C20-D1F4-B0E4-564FBCD853B8}"/>
              </a:ext>
            </a:extLst>
          </p:cNvPr>
          <p:cNvSpPr txBox="1"/>
          <p:nvPr/>
        </p:nvSpPr>
        <p:spPr>
          <a:xfrm>
            <a:off x="8902700" y="2819400"/>
            <a:ext cx="25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1AC0C6"/>
                </a:solidFill>
                <a:latin typeface="Google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FC3CA1-09B5-CCB4-EA33-DC62D3E52C14}"/>
              </a:ext>
            </a:extLst>
          </p:cNvPr>
          <p:cNvSpPr/>
          <p:nvPr/>
        </p:nvSpPr>
        <p:spPr>
          <a:xfrm>
            <a:off x="9156700" y="2349500"/>
            <a:ext cx="2603500" cy="1333500"/>
          </a:xfrm>
          <a:prstGeom prst="roundRect">
            <a:avLst>
              <a:gd name="adj" fmla="val 4500"/>
            </a:avLst>
          </a:prstGeom>
          <a:solidFill>
            <a:srgbClr val="D9F1F2"/>
          </a:solidFill>
          <a:ln w="19050">
            <a:solidFill>
              <a:srgbClr val="1AC0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59CAC-AB5E-4CA1-4700-11567650AC6E}"/>
              </a:ext>
            </a:extLst>
          </p:cNvPr>
          <p:cNvSpPr txBox="1"/>
          <p:nvPr/>
        </p:nvSpPr>
        <p:spPr>
          <a:xfrm>
            <a:off x="9309100" y="2489200"/>
            <a:ext cx="22987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50" b="1">
                <a:solidFill>
                  <a:srgbClr val="142A4A"/>
                </a:solidFill>
                <a:latin typeface="Google Sans"/>
              </a:rPr>
              <a:t>Output, Prioritize: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FB2D81-852C-8770-4CB3-0D28FD163747}"/>
              </a:ext>
            </a:extLst>
          </p:cNvPr>
          <p:cNvSpPr txBox="1"/>
          <p:nvPr/>
        </p:nvSpPr>
        <p:spPr>
          <a:xfrm>
            <a:off x="9309100" y="2768600"/>
            <a:ext cx="22987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83746"/>
                </a:solidFill>
                <a:latin typeface="Google Sans"/>
              </a:rPr>
              <a:t>every opportunity costed and stack-ranked on return vs effort.</a:t>
            </a:r>
            <a:endParaRPr lang="en-IN" sz="10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60CE40-BA57-CD1F-8000-CAB72920084C}"/>
              </a:ext>
            </a:extLst>
          </p:cNvPr>
          <p:cNvSpPr/>
          <p:nvPr/>
        </p:nvSpPr>
        <p:spPr>
          <a:xfrm>
            <a:off x="508000" y="4064000"/>
            <a:ext cx="5461000" cy="1905000"/>
          </a:xfrm>
          <a:prstGeom prst="roundRect">
            <a:avLst>
              <a:gd name="adj" fmla="val 4500"/>
            </a:avLst>
          </a:prstGeom>
          <a:solidFill>
            <a:srgbClr val="D9F1F2"/>
          </a:solidFill>
          <a:ln w="19050">
            <a:solidFill>
              <a:srgbClr val="1AC0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A1ECE8-3659-1F1A-7189-8076577C92CE}"/>
              </a:ext>
            </a:extLst>
          </p:cNvPr>
          <p:cNvSpPr txBox="1"/>
          <p:nvPr/>
        </p:nvSpPr>
        <p:spPr>
          <a:xfrm>
            <a:off x="736600" y="4216400"/>
            <a:ext cx="5003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50" b="1">
                <a:solidFill>
                  <a:srgbClr val="142A4A"/>
                </a:solidFill>
                <a:latin typeface="Google Sans"/>
              </a:rPr>
              <a:t>What it 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BAF92D-0E07-BA5F-8FA5-66E1E372C911}"/>
              </a:ext>
            </a:extLst>
          </p:cNvPr>
          <p:cNvSpPr txBox="1"/>
          <p:nvPr/>
        </p:nvSpPr>
        <p:spPr>
          <a:xfrm>
            <a:off x="736600" y="4521200"/>
            <a:ext cx="50038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83746"/>
                </a:solidFill>
                <a:latin typeface="Google Sans"/>
              </a:rPr>
              <a:t>-  A quantified operating plan</a:t>
            </a:r>
          </a:p>
          <a:p>
            <a:r>
              <a:rPr lang="en-US" sz="1100">
                <a:solidFill>
                  <a:srgbClr val="283746"/>
                </a:solidFill>
                <a:latin typeface="Google Sans"/>
              </a:rPr>
              <a:t>-  A scored assessment and an opportunity portfolio on a return vs effort matrix</a:t>
            </a:r>
          </a:p>
          <a:p>
            <a:r>
              <a:rPr lang="en-US" sz="1100">
                <a:solidFill>
                  <a:srgbClr val="283746"/>
                </a:solidFill>
                <a:latin typeface="Google Sans"/>
              </a:rPr>
              <a:t>-  A sequenced roadmap with a concrete first 90 days</a:t>
            </a:r>
            <a:endParaRPr lang="en-IN" sz="110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951E9D1-93D6-BF2E-D93F-4D9CB9EE32B2}"/>
              </a:ext>
            </a:extLst>
          </p:cNvPr>
          <p:cNvSpPr/>
          <p:nvPr/>
        </p:nvSpPr>
        <p:spPr>
          <a:xfrm>
            <a:off x="6223000" y="4064000"/>
            <a:ext cx="5461000" cy="1905000"/>
          </a:xfrm>
          <a:prstGeom prst="roundRect">
            <a:avLst>
              <a:gd name="adj" fmla="val 4500"/>
            </a:avLst>
          </a:prstGeom>
          <a:solidFill>
            <a:srgbClr val="D2D8DE"/>
          </a:solidFill>
          <a:ln w="12700">
            <a:solidFill>
              <a:srgbClr val="5B6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ACA330-72F4-5E85-937A-B089686B8863}"/>
              </a:ext>
            </a:extLst>
          </p:cNvPr>
          <p:cNvSpPr txBox="1"/>
          <p:nvPr/>
        </p:nvSpPr>
        <p:spPr>
          <a:xfrm>
            <a:off x="6451600" y="4216400"/>
            <a:ext cx="5003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50" b="1">
                <a:solidFill>
                  <a:srgbClr val="142A4A"/>
                </a:solidFill>
                <a:latin typeface="Google Sans"/>
              </a:rPr>
              <a:t>What it is not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605E7E-2D0F-ECCD-7053-FCD6094FB5C8}"/>
              </a:ext>
            </a:extLst>
          </p:cNvPr>
          <p:cNvSpPr txBox="1"/>
          <p:nvPr/>
        </p:nvSpPr>
        <p:spPr>
          <a:xfrm>
            <a:off x="6451600" y="4521200"/>
            <a:ext cx="50038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83746"/>
                </a:solidFill>
                <a:latin typeface="Google Sans"/>
              </a:rPr>
              <a:t>-  A strategy deck</a:t>
            </a:r>
          </a:p>
          <a:p>
            <a:r>
              <a:rPr lang="en-US" sz="1100">
                <a:solidFill>
                  <a:srgbClr val="283746"/>
                </a:solidFill>
                <a:latin typeface="Google Sans"/>
              </a:rPr>
              <a:t>-  A technology audit</a:t>
            </a:r>
          </a:p>
          <a:p>
            <a:r>
              <a:rPr lang="en-US" sz="1100">
                <a:solidFill>
                  <a:srgbClr val="283746"/>
                </a:solidFill>
                <a:latin typeface="Google Sans"/>
              </a:rPr>
              <a:t>-  A staffing pitch</a:t>
            </a:r>
            <a:endParaRPr lang="en-IN" sz="110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3A2B3E-85C0-8867-2BE7-CE728AC48220}"/>
              </a:ext>
            </a:extLst>
          </p:cNvPr>
          <p:cNvSpPr txBox="1"/>
          <p:nvPr/>
        </p:nvSpPr>
        <p:spPr>
          <a:xfrm>
            <a:off x="10795000" y="64135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300" b="1">
                <a:solidFill>
                  <a:srgbClr val="142A4A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293849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A0DB25-2AB7-0EB4-8597-1DBF128CCF5C}"/>
              </a:ext>
            </a:extLst>
          </p:cNvPr>
          <p:cNvSpPr/>
          <p:nvPr/>
        </p:nvSpPr>
        <p:spPr>
          <a:xfrm>
            <a:off x="508000" y="330200"/>
            <a:ext cx="965200" cy="304800"/>
          </a:xfrm>
          <a:prstGeom prst="roundRect">
            <a:avLst>
              <a:gd name="adj" fmla="val 25000"/>
            </a:avLst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Google Sans"/>
              </a:rPr>
              <a:t>Selling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4D244-38EF-6B5E-05D7-F199AE355313}"/>
              </a:ext>
            </a:extLst>
          </p:cNvPr>
          <p:cNvSpPr txBox="1"/>
          <p:nvPr/>
        </p:nvSpPr>
        <p:spPr>
          <a:xfrm>
            <a:off x="508000" y="787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42A4A"/>
                </a:solidFill>
                <a:latin typeface="Google Sans"/>
              </a:rPr>
              <a:t>What the seller walks in with.</a:t>
            </a:r>
            <a:endParaRPr lang="en-IN" sz="28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9F75B7-95BC-9530-2500-9B0F40BCA1B3}"/>
              </a:ext>
            </a:extLst>
          </p:cNvPr>
          <p:cNvSpPr/>
          <p:nvPr/>
        </p:nvSpPr>
        <p:spPr>
          <a:xfrm>
            <a:off x="508000" y="1651000"/>
            <a:ext cx="3556000" cy="4445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38EFC-1801-4187-9435-A98535E98180}"/>
              </a:ext>
            </a:extLst>
          </p:cNvPr>
          <p:cNvSpPr/>
          <p:nvPr/>
        </p:nvSpPr>
        <p:spPr>
          <a:xfrm>
            <a:off x="508000" y="1651000"/>
            <a:ext cx="3556000" cy="101600"/>
          </a:xfrm>
          <a:prstGeom prst="rect">
            <a:avLst/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4FA95-E4E4-AB16-1E1D-26E87030756F}"/>
              </a:ext>
            </a:extLst>
          </p:cNvPr>
          <p:cNvSpPr txBox="1"/>
          <p:nvPr/>
        </p:nvSpPr>
        <p:spPr>
          <a:xfrm>
            <a:off x="762000" y="1968500"/>
            <a:ext cx="304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142A4A"/>
                </a:solidFill>
                <a:latin typeface="Google Sans"/>
              </a:rPr>
              <a:t>The offer card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6F227-0A1F-CD0A-0E70-DCBBB820E9D1}"/>
              </a:ext>
            </a:extLst>
          </p:cNvPr>
          <p:cNvCxnSpPr/>
          <p:nvPr/>
        </p:nvCxnSpPr>
        <p:spPr>
          <a:xfrm>
            <a:off x="762000" y="2603500"/>
            <a:ext cx="3048000" cy="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3D6B70E-2A94-BE50-5151-60BC6F330260}"/>
              </a:ext>
            </a:extLst>
          </p:cNvPr>
          <p:cNvSpPr txBox="1"/>
          <p:nvPr/>
        </p:nvSpPr>
        <p:spPr>
          <a:xfrm>
            <a:off x="762000" y="2743200"/>
            <a:ext cx="30480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283746"/>
                </a:solidFill>
                <a:latin typeface="Google Sans"/>
              </a:rPr>
              <a:t>Six to eight weeks, fixed fee.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Deliverables by name: readiness scorecard, opportunity portfolio on the return vs effort matrix, initiative outlines with build / buy / partner options, first-90-days plan, executive readout.</a:t>
            </a:r>
            <a:endParaRPr lang="en-IN" sz="11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908FE2-4A0C-ABDE-549E-6CD222873E31}"/>
              </a:ext>
            </a:extLst>
          </p:cNvPr>
          <p:cNvSpPr/>
          <p:nvPr/>
        </p:nvSpPr>
        <p:spPr>
          <a:xfrm>
            <a:off x="4318000" y="1651000"/>
            <a:ext cx="3556000" cy="4445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7D42D1-3C6F-0763-CD92-B2FD2471627B}"/>
              </a:ext>
            </a:extLst>
          </p:cNvPr>
          <p:cNvSpPr/>
          <p:nvPr/>
        </p:nvSpPr>
        <p:spPr>
          <a:xfrm>
            <a:off x="4318000" y="1651000"/>
            <a:ext cx="3556000" cy="101600"/>
          </a:xfrm>
          <a:prstGeom prst="rect">
            <a:avLst/>
          </a:prstGeom>
          <a:solidFill>
            <a:srgbClr val="F26B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57CAA0-12DC-C3A0-3663-229AEBDF4AFD}"/>
              </a:ext>
            </a:extLst>
          </p:cNvPr>
          <p:cNvSpPr txBox="1"/>
          <p:nvPr/>
        </p:nvSpPr>
        <p:spPr>
          <a:xfrm>
            <a:off x="4572000" y="1968500"/>
            <a:ext cx="304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142A4A"/>
                </a:solidFill>
                <a:latin typeface="Google Sans"/>
              </a:rPr>
              <a:t>The sample report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764C22-74BF-F9A9-4778-650D5AF6EFF7}"/>
              </a:ext>
            </a:extLst>
          </p:cNvPr>
          <p:cNvCxnSpPr/>
          <p:nvPr/>
        </p:nvCxnSpPr>
        <p:spPr>
          <a:xfrm>
            <a:off x="4572000" y="2603500"/>
            <a:ext cx="3048000" cy="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573A0C-148C-C264-271C-C667D7BF54BA}"/>
              </a:ext>
            </a:extLst>
          </p:cNvPr>
          <p:cNvSpPr txBox="1"/>
          <p:nvPr/>
        </p:nvSpPr>
        <p:spPr>
          <a:xfrm>
            <a:off x="4572000" y="2743200"/>
            <a:ext cx="3048000" cy="12388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283746"/>
                </a:solidFill>
                <a:latin typeface="Google Sans"/>
              </a:rPr>
              <a:t>An assessment report built from real Techjays engagements; actual process maps, target designs, and roadmaps with client identifiers removed.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Answers the “show me what I get” buyer.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Next collateral investment.</a:t>
            </a:r>
            <a:endParaRPr lang="en-IN" sz="11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A227B7-0BA7-DA72-9B9E-DF7640862880}"/>
              </a:ext>
            </a:extLst>
          </p:cNvPr>
          <p:cNvSpPr/>
          <p:nvPr/>
        </p:nvSpPr>
        <p:spPr>
          <a:xfrm>
            <a:off x="8128000" y="1651000"/>
            <a:ext cx="3556000" cy="4445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91045B-C7FB-F53B-02E9-E2140560971B}"/>
              </a:ext>
            </a:extLst>
          </p:cNvPr>
          <p:cNvSpPr/>
          <p:nvPr/>
        </p:nvSpPr>
        <p:spPr>
          <a:xfrm>
            <a:off x="8128000" y="1651000"/>
            <a:ext cx="3556000" cy="101600"/>
          </a:xfrm>
          <a:prstGeom prst="rect">
            <a:avLst/>
          </a:prstGeom>
          <a:solidFill>
            <a:srgbClr val="14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F99887-07AF-BCF9-1353-BF16A778A32C}"/>
              </a:ext>
            </a:extLst>
          </p:cNvPr>
          <p:cNvSpPr txBox="1"/>
          <p:nvPr/>
        </p:nvSpPr>
        <p:spPr>
          <a:xfrm>
            <a:off x="8382000" y="1968500"/>
            <a:ext cx="304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142A4A"/>
                </a:solidFill>
                <a:latin typeface="Google Sans"/>
              </a:rPr>
              <a:t>The qualification profile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10E672-55E3-0359-5F61-0AFEE81EB181}"/>
              </a:ext>
            </a:extLst>
          </p:cNvPr>
          <p:cNvCxnSpPr/>
          <p:nvPr/>
        </p:nvCxnSpPr>
        <p:spPr>
          <a:xfrm>
            <a:off x="8382000" y="2603500"/>
            <a:ext cx="3048000" cy="0"/>
          </a:xfrm>
          <a:prstGeom prst="line">
            <a:avLst/>
          </a:prstGeom>
          <a:ln w="9525">
            <a:solidFill>
              <a:srgbClr val="D2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D020AD-D3FF-58A6-6163-2BC106AFF998}"/>
              </a:ext>
            </a:extLst>
          </p:cNvPr>
          <p:cNvSpPr txBox="1"/>
          <p:nvPr/>
        </p:nvSpPr>
        <p:spPr>
          <a:xfrm>
            <a:off x="8382000" y="2743200"/>
            <a:ext cx="30480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283746"/>
                </a:solidFill>
                <a:latin typeface="Google Sans"/>
              </a:rPr>
              <a:t>Mid-market, roughly 100 to 500 employees.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Operations- or GTM-heavy. Board or CEO pressure on AI.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Pilots that have not moved the P&amp;L.</a:t>
            </a:r>
            <a:endParaRPr lang="en-IN" sz="11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6A6AE7-9C67-1BF2-DFCE-84D43F8A59B4}"/>
              </a:ext>
            </a:extLst>
          </p:cNvPr>
          <p:cNvSpPr txBox="1"/>
          <p:nvPr/>
        </p:nvSpPr>
        <p:spPr>
          <a:xfrm>
            <a:off x="10795000" y="64135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300" b="1">
                <a:solidFill>
                  <a:srgbClr val="142A4A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165294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4C850A-06E6-BFF5-A07C-3C35A8DA59A4}"/>
              </a:ext>
            </a:extLst>
          </p:cNvPr>
          <p:cNvSpPr/>
          <p:nvPr/>
        </p:nvSpPr>
        <p:spPr>
          <a:xfrm>
            <a:off x="508000" y="330200"/>
            <a:ext cx="965200" cy="304800"/>
          </a:xfrm>
          <a:prstGeom prst="roundRect">
            <a:avLst>
              <a:gd name="adj" fmla="val 25000"/>
            </a:avLst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Google Sans"/>
              </a:rPr>
              <a:t>Selling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A6EC-B770-BF9F-325D-87EC0CC36DF7}"/>
              </a:ext>
            </a:extLst>
          </p:cNvPr>
          <p:cNvSpPr txBox="1"/>
          <p:nvPr/>
        </p:nvSpPr>
        <p:spPr>
          <a:xfrm>
            <a:off x="508000" y="762000"/>
            <a:ext cx="1117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142A4A"/>
                </a:solidFill>
                <a:latin typeface="Google Sans"/>
              </a:rPr>
              <a:t>Three questions that open the door. Four answers that keep it open.</a:t>
            </a:r>
            <a:endParaRPr lang="en-IN" sz="22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A308B-A028-D96E-EF4C-0BB9306D3066}"/>
              </a:ext>
            </a:extLst>
          </p:cNvPr>
          <p:cNvSpPr txBox="1"/>
          <p:nvPr/>
        </p:nvSpPr>
        <p:spPr>
          <a:xfrm>
            <a:off x="508000" y="1498600"/>
            <a:ext cx="355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00" b="1">
                <a:solidFill>
                  <a:srgbClr val="1AC0C6"/>
                </a:solidFill>
                <a:latin typeface="Google Sans"/>
              </a:rPr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BF5DE-84B7-E7BB-2178-09756C3AA51E}"/>
              </a:ext>
            </a:extLst>
          </p:cNvPr>
          <p:cNvSpPr txBox="1"/>
          <p:nvPr/>
        </p:nvSpPr>
        <p:spPr>
          <a:xfrm>
            <a:off x="914400" y="1536700"/>
            <a:ext cx="317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142A4A"/>
                </a:solidFill>
                <a:latin typeface="Google Sans"/>
              </a:rPr>
              <a:t>What did your last AI pilot change in the P&amp;L?</a:t>
            </a:r>
            <a:endParaRPr lang="en-IN" sz="1250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60023-8254-964A-BF08-B4FEDB945FB5}"/>
              </a:ext>
            </a:extLst>
          </p:cNvPr>
          <p:cNvSpPr txBox="1"/>
          <p:nvPr/>
        </p:nvSpPr>
        <p:spPr>
          <a:xfrm>
            <a:off x="4318000" y="1498600"/>
            <a:ext cx="355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00" b="1">
                <a:solidFill>
                  <a:srgbClr val="1AC0C6"/>
                </a:solidFill>
                <a:latin typeface="Google Sans"/>
              </a:rPr>
              <a:t>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FF9B8-38FF-F6AB-F971-E1E050F39E80}"/>
              </a:ext>
            </a:extLst>
          </p:cNvPr>
          <p:cNvSpPr txBox="1"/>
          <p:nvPr/>
        </p:nvSpPr>
        <p:spPr>
          <a:xfrm>
            <a:off x="4724400" y="1536700"/>
            <a:ext cx="3175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142A4A"/>
                </a:solidFill>
                <a:latin typeface="Google Sans"/>
              </a:rPr>
              <a:t>If your team doubled tomorrow at the same cost, where would you point it?</a:t>
            </a:r>
            <a:endParaRPr lang="en-IN" sz="1250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F2EF4-A864-B5EA-1A4E-C0A02F72FC91}"/>
              </a:ext>
            </a:extLst>
          </p:cNvPr>
          <p:cNvSpPr txBox="1"/>
          <p:nvPr/>
        </p:nvSpPr>
        <p:spPr>
          <a:xfrm>
            <a:off x="8128000" y="1498600"/>
            <a:ext cx="355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00" b="1">
                <a:solidFill>
                  <a:srgbClr val="1AC0C6"/>
                </a:solidFill>
                <a:latin typeface="Google Sans"/>
              </a:rPr>
              <a:t>3.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D3419-C9E5-2E64-C565-C1E994E7605B}"/>
              </a:ext>
            </a:extLst>
          </p:cNvPr>
          <p:cNvSpPr txBox="1"/>
          <p:nvPr/>
        </p:nvSpPr>
        <p:spPr>
          <a:xfrm>
            <a:off x="8534400" y="1536700"/>
            <a:ext cx="3175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142A4A"/>
                </a:solidFill>
                <a:latin typeface="Google Sans"/>
              </a:rPr>
              <a:t>Who in your company can draw how a customer order actually flows, end to end?</a:t>
            </a:r>
            <a:endParaRPr lang="en-IN" sz="1250">
              <a:solidFill>
                <a:srgbClr val="142A4A"/>
              </a:solidFill>
              <a:latin typeface="Google San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939F13-6B07-FB72-4869-88F8EAE2F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961015"/>
              </p:ext>
            </p:extLst>
          </p:nvPr>
        </p:nvGraphicFramePr>
        <p:xfrm>
          <a:off x="508000" y="2730500"/>
          <a:ext cx="11176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92455415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364952919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142A4A"/>
                          </a:solidFill>
                          <a:latin typeface="Google Sans"/>
                        </a:rPr>
                        <a:t>The objection</a:t>
                      </a:r>
                    </a:p>
                  </a:txBody>
                  <a:tcPr>
                    <a:solidFill>
                      <a:srgbClr val="D9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142A4A"/>
                          </a:solidFill>
                          <a:latin typeface="Google Sans"/>
                        </a:rPr>
                        <a:t>Our answer</a:t>
                      </a:r>
                    </a:p>
                  </a:txBody>
                  <a:tcPr>
                    <a:solidFill>
                      <a:srgbClr val="D9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3026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42A4A"/>
                          </a:solidFill>
                          <a:latin typeface="Google Sans"/>
                        </a:rPr>
                        <a:t>“Why not a big firm?”</a:t>
                      </a:r>
                      <a:endParaRPr lang="en-IN" sz="1150" b="1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142A4A"/>
                          </a:solidFill>
                          <a:latin typeface="Google Sans"/>
                        </a:rPr>
                        <a:t>Same study, a fraction of the fee, and a plan you can build rather than a strategy deck.</a:t>
                      </a:r>
                      <a:endParaRPr lang="en-IN" sz="1150" b="0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6473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42A4A"/>
                          </a:solidFill>
                          <a:latin typeface="Google Sans"/>
                        </a:rPr>
                        <a:t>“You will just tell us to hire you.”</a:t>
                      </a:r>
                      <a:endParaRPr lang="en-IN" sz="1150" b="1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142A4A"/>
                          </a:solidFill>
                          <a:latin typeface="Google Sans"/>
                        </a:rPr>
                        <a:t>Fixed fee independent of any build decision. Every recommendation carries build / buy / partner options. The client owns everything.</a:t>
                      </a:r>
                      <a:endParaRPr lang="en-IN" sz="1150" b="0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13869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42A4A"/>
                          </a:solidFill>
                          <a:latin typeface="Google Sans"/>
                        </a:rPr>
                        <a:t>“Our data is not ready.”</a:t>
                      </a:r>
                      <a:endParaRPr lang="en-IN" sz="1150" b="1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142A4A"/>
                          </a:solidFill>
                          <a:latin typeface="Google Sans"/>
                        </a:rPr>
                        <a:t>Data readiness is one of the things the study assesses. It is not an entry ticket.</a:t>
                      </a:r>
                      <a:endParaRPr lang="en-IN" sz="1150" b="0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72261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42A4A"/>
                          </a:solidFill>
                          <a:latin typeface="Google Sans"/>
                        </a:rPr>
                        <a:t>“We can do this in-house.”</a:t>
                      </a:r>
                      <a:endParaRPr lang="en-IN" sz="1150" b="1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142A4A"/>
                          </a:solidFill>
                          <a:latin typeface="Google Sans"/>
                        </a:rPr>
                        <a:t>Individual productivity, yes. Department-level re-architecture needs dedicated structure from outside the daily grind.</a:t>
                      </a:r>
                      <a:endParaRPr lang="en-IN" sz="1150" b="0">
                        <a:solidFill>
                          <a:srgbClr val="142A4A"/>
                        </a:solidFill>
                        <a:latin typeface="Google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293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1AAC9D6-F9FE-A669-CCA5-81D3AC6AE6A2}"/>
              </a:ext>
            </a:extLst>
          </p:cNvPr>
          <p:cNvSpPr txBox="1"/>
          <p:nvPr/>
        </p:nvSpPr>
        <p:spPr>
          <a:xfrm>
            <a:off x="10795000" y="64135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300" b="1">
                <a:solidFill>
                  <a:srgbClr val="142A4A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330575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065053E-5B33-CE42-BC4E-81CED5D3A1FD}"/>
              </a:ext>
            </a:extLst>
          </p:cNvPr>
          <p:cNvSpPr/>
          <p:nvPr/>
        </p:nvSpPr>
        <p:spPr>
          <a:xfrm>
            <a:off x="508000" y="330200"/>
            <a:ext cx="1122680" cy="304800"/>
          </a:xfrm>
          <a:prstGeom prst="roundRect">
            <a:avLst>
              <a:gd name="adj" fmla="val 25000"/>
            </a:avLst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Google Sans"/>
              </a:rPr>
              <a:t>Why Techjays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4AB68-DEF7-AA7A-DFD0-0F6A6D62AB8D}"/>
              </a:ext>
            </a:extLst>
          </p:cNvPr>
          <p:cNvSpPr txBox="1"/>
          <p:nvPr/>
        </p:nvSpPr>
        <p:spPr>
          <a:xfrm>
            <a:off x="508000" y="787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42A4A"/>
                </a:solidFill>
                <a:latin typeface="Google Sans"/>
              </a:rPr>
              <a:t>Three reasons, each one verifiable.</a:t>
            </a:r>
            <a:endParaRPr lang="en-IN" sz="28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68DBD1-DE1A-F812-54E9-65CB53EAE7F4}"/>
              </a:ext>
            </a:extLst>
          </p:cNvPr>
          <p:cNvSpPr/>
          <p:nvPr/>
        </p:nvSpPr>
        <p:spPr>
          <a:xfrm>
            <a:off x="508000" y="1587500"/>
            <a:ext cx="3556000" cy="38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F96E6-2479-9D06-D379-D1170DE7D6E4}"/>
              </a:ext>
            </a:extLst>
          </p:cNvPr>
          <p:cNvSpPr txBox="1"/>
          <p:nvPr/>
        </p:nvSpPr>
        <p:spPr>
          <a:xfrm>
            <a:off x="2857500" y="1676400"/>
            <a:ext cx="11176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3800" b="1">
                <a:solidFill>
                  <a:srgbClr val="F26B5B"/>
                </a:solidFill>
                <a:latin typeface="Google Sans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86D71-3AA6-0231-6615-F9780E9CBE73}"/>
              </a:ext>
            </a:extLst>
          </p:cNvPr>
          <p:cNvSpPr txBox="1"/>
          <p:nvPr/>
        </p:nvSpPr>
        <p:spPr>
          <a:xfrm>
            <a:off x="762000" y="1905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42A4A"/>
                </a:solidFill>
                <a:latin typeface="Google Sans"/>
              </a:rPr>
              <a:t>We build what we recommend</a:t>
            </a:r>
            <a:endParaRPr lang="en-IN" sz="15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C5E03-8BC5-C725-0EEE-D0BAA0116CFD}"/>
              </a:ext>
            </a:extLst>
          </p:cNvPr>
          <p:cNvSpPr txBox="1"/>
          <p:nvPr/>
        </p:nvSpPr>
        <p:spPr>
          <a:xfrm>
            <a:off x="762000" y="2819400"/>
            <a:ext cx="3048000" cy="12388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283746"/>
                </a:solidFill>
                <a:latin typeface="Google Sans"/>
              </a:rPr>
              <a:t>Estimates come from people who design and deliver these systems every week, so the plan is buildable, not theoretical.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Because we can be asked to execute it, we live with our own advice: an incentive no pure-strategy firm has.</a:t>
            </a:r>
            <a:endParaRPr lang="en-IN" sz="11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8ACDDD-DB22-A91B-DF03-17B1D72490BD}"/>
              </a:ext>
            </a:extLst>
          </p:cNvPr>
          <p:cNvSpPr/>
          <p:nvPr/>
        </p:nvSpPr>
        <p:spPr>
          <a:xfrm>
            <a:off x="4318000" y="1587500"/>
            <a:ext cx="3556000" cy="38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4ECDC-BA3C-121C-EAB5-DA016CC2A28D}"/>
              </a:ext>
            </a:extLst>
          </p:cNvPr>
          <p:cNvSpPr txBox="1"/>
          <p:nvPr/>
        </p:nvSpPr>
        <p:spPr>
          <a:xfrm>
            <a:off x="6667500" y="1676400"/>
            <a:ext cx="11176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3800" b="1">
                <a:solidFill>
                  <a:srgbClr val="F26B5B"/>
                </a:solidFill>
                <a:latin typeface="Google San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1400E-E79F-72EF-A98E-B9F5C1CA8EEB}"/>
              </a:ext>
            </a:extLst>
          </p:cNvPr>
          <p:cNvSpPr txBox="1"/>
          <p:nvPr/>
        </p:nvSpPr>
        <p:spPr>
          <a:xfrm>
            <a:off x="4572000" y="1905000"/>
            <a:ext cx="2540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42A4A"/>
                </a:solidFill>
                <a:latin typeface="Google Sans"/>
              </a:rPr>
              <a:t>Engineering depth at a mid-market price</a:t>
            </a:r>
            <a:endParaRPr lang="en-IN" sz="15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E2E74-71F5-7FDD-6194-43071076D42C}"/>
              </a:ext>
            </a:extLst>
          </p:cNvPr>
          <p:cNvSpPr txBox="1"/>
          <p:nvPr/>
        </p:nvSpPr>
        <p:spPr>
          <a:xfrm>
            <a:off x="4572000" y="2819400"/>
            <a:ext cx="3048000" cy="8848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283746"/>
                </a:solidFill>
                <a:latin typeface="Google Sans"/>
              </a:rPr>
              <a:t>A comparable study from the big firms runs several times our fee and stops at strategy altitude.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We work at workflow level: the actual steps, handoffs, and systems, where the value hides.</a:t>
            </a:r>
            <a:endParaRPr lang="en-IN" sz="11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41B546-79AD-8342-5C64-5BA9F6F07469}"/>
              </a:ext>
            </a:extLst>
          </p:cNvPr>
          <p:cNvSpPr/>
          <p:nvPr/>
        </p:nvSpPr>
        <p:spPr>
          <a:xfrm>
            <a:off x="8128000" y="1587500"/>
            <a:ext cx="3556000" cy="38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2D8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01CB7-BF44-9B69-7C6B-19ECBA81357F}"/>
              </a:ext>
            </a:extLst>
          </p:cNvPr>
          <p:cNvSpPr txBox="1"/>
          <p:nvPr/>
        </p:nvSpPr>
        <p:spPr>
          <a:xfrm>
            <a:off x="10477500" y="1676400"/>
            <a:ext cx="11176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3800" b="1">
                <a:solidFill>
                  <a:srgbClr val="F26B5B"/>
                </a:solidFill>
                <a:latin typeface="Google Sans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E3E205-3FE4-253B-58CC-83C57BF5DA06}"/>
              </a:ext>
            </a:extLst>
          </p:cNvPr>
          <p:cNvSpPr txBox="1"/>
          <p:nvPr/>
        </p:nvSpPr>
        <p:spPr>
          <a:xfrm>
            <a:off x="8382000" y="1905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42A4A"/>
                </a:solidFill>
                <a:latin typeface="Google Sans"/>
              </a:rPr>
              <a:t>Independence by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A257DB-3193-3169-68FD-3D786BF7AA0E}"/>
              </a:ext>
            </a:extLst>
          </p:cNvPr>
          <p:cNvSpPr txBox="1"/>
          <p:nvPr/>
        </p:nvSpPr>
        <p:spPr>
          <a:xfrm>
            <a:off x="8382000" y="2819400"/>
            <a:ext cx="30480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283746"/>
                </a:solidFill>
                <a:latin typeface="Google Sans"/>
              </a:rPr>
              <a:t>Fixed fee, no obligation to build with us, build / buy / partner options on every recommendation, and the client owns every artifact.</a:t>
            </a:r>
          </a:p>
          <a:p>
            <a:endParaRPr lang="en-US" sz="1150">
              <a:solidFill>
                <a:srgbClr val="283746"/>
              </a:solidFill>
              <a:latin typeface="Google Sans"/>
            </a:endParaRPr>
          </a:p>
          <a:p>
            <a:r>
              <a:rPr lang="en-US" sz="1150">
                <a:solidFill>
                  <a:srgbClr val="283746"/>
                </a:solidFill>
                <a:latin typeface="Google Sans"/>
              </a:rPr>
              <a:t>If the right answer is their in-house team, the report says so.</a:t>
            </a:r>
            <a:endParaRPr lang="en-IN" sz="1150">
              <a:solidFill>
                <a:srgbClr val="283746"/>
              </a:solidFill>
              <a:latin typeface="Google San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05EA59-FE00-5C27-551B-37C924BC29ED}"/>
              </a:ext>
            </a:extLst>
          </p:cNvPr>
          <p:cNvSpPr/>
          <p:nvPr/>
        </p:nvSpPr>
        <p:spPr>
          <a:xfrm>
            <a:off x="508000" y="5689600"/>
            <a:ext cx="11176000" cy="762000"/>
          </a:xfrm>
          <a:prstGeom prst="roundRect">
            <a:avLst>
              <a:gd name="adj" fmla="val 4500"/>
            </a:avLst>
          </a:prstGeom>
          <a:solidFill>
            <a:srgbClr val="D9F1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7FF28-5731-1886-019C-40BDB6285424}"/>
              </a:ext>
            </a:extLst>
          </p:cNvPr>
          <p:cNvSpPr txBox="1"/>
          <p:nvPr/>
        </p:nvSpPr>
        <p:spPr>
          <a:xfrm>
            <a:off x="762000" y="5842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2A4A"/>
                </a:solidFill>
                <a:latin typeface="Google Sans"/>
              </a:rPr>
              <a:t>Proof today: delivery heritage across AI and data programs, including a three-week logistics process redesigned to run in three to four days. The first pilot’s case study slots in here.</a:t>
            </a:r>
            <a:endParaRPr lang="en-IN" sz="1200" b="1">
              <a:solidFill>
                <a:srgbClr val="142A4A"/>
              </a:solidFill>
              <a:latin typeface="Google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4C73A6-CC9A-57E1-0F53-A74E7BB01F7C}"/>
              </a:ext>
            </a:extLst>
          </p:cNvPr>
          <p:cNvSpPr txBox="1"/>
          <p:nvPr/>
        </p:nvSpPr>
        <p:spPr>
          <a:xfrm>
            <a:off x="10795000" y="64135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300" b="1">
                <a:solidFill>
                  <a:srgbClr val="142A4A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314942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92015-E39E-24CF-75BF-796ED3E943AB}"/>
              </a:ext>
            </a:extLst>
          </p:cNvPr>
          <p:cNvSpPr txBox="1"/>
          <p:nvPr/>
        </p:nvSpPr>
        <p:spPr>
          <a:xfrm>
            <a:off x="889000" y="787400"/>
            <a:ext cx="508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300">
                <a:solidFill>
                  <a:srgbClr val="1AC0C6"/>
                </a:solidFill>
                <a:latin typeface="Google Sans"/>
              </a:rPr>
              <a:t>The path forward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E9140-D1D6-BFBD-3E56-DDABB23F802C}"/>
              </a:ext>
            </a:extLst>
          </p:cNvPr>
          <p:cNvSpPr txBox="1"/>
          <p:nvPr/>
        </p:nvSpPr>
        <p:spPr>
          <a:xfrm>
            <a:off x="889000" y="1206500"/>
            <a:ext cx="1041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Google Sans"/>
              </a:rPr>
              <a:t>“A study priced so the decision is easy, scoped so the plan is buildable, and honest enough that clients trust the answer.”</a:t>
            </a:r>
            <a:endParaRPr lang="en-IN" sz="2800" b="1">
              <a:solidFill>
                <a:srgbClr val="FFFFFF"/>
              </a:solidFill>
              <a:latin typeface="Google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0B98F-B427-2056-16CB-B291CBE6D2FF}"/>
              </a:ext>
            </a:extLst>
          </p:cNvPr>
          <p:cNvSpPr/>
          <p:nvPr/>
        </p:nvSpPr>
        <p:spPr>
          <a:xfrm>
            <a:off x="762000" y="3937000"/>
            <a:ext cx="3429000" cy="76200"/>
          </a:xfrm>
          <a:prstGeom prst="rect">
            <a:avLst/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D076C-C08A-4B22-7C1C-1493EF1F5AD4}"/>
              </a:ext>
            </a:extLst>
          </p:cNvPr>
          <p:cNvSpPr/>
          <p:nvPr/>
        </p:nvSpPr>
        <p:spPr>
          <a:xfrm>
            <a:off x="762000" y="4013200"/>
            <a:ext cx="3429000" cy="13970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0A4A0-9CF5-E17D-7865-9D74502DF2F3}"/>
              </a:ext>
            </a:extLst>
          </p:cNvPr>
          <p:cNvSpPr txBox="1"/>
          <p:nvPr/>
        </p:nvSpPr>
        <p:spPr>
          <a:xfrm>
            <a:off x="965200" y="4165600"/>
            <a:ext cx="302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AC0C6"/>
                </a:solidFill>
                <a:latin typeface="Google Sans"/>
              </a:rPr>
              <a:t>Now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A0406-1F3D-CD4F-DBCB-0C0DBDF2E7B4}"/>
              </a:ext>
            </a:extLst>
          </p:cNvPr>
          <p:cNvSpPr txBox="1"/>
          <p:nvPr/>
        </p:nvSpPr>
        <p:spPr>
          <a:xfrm>
            <a:off x="965200" y="4470400"/>
            <a:ext cx="302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Google Sans"/>
              </a:rPr>
              <a:t>Feedback on the framing; the one-liner, the objection answers, the qualification profile.</a:t>
            </a:r>
            <a:endParaRPr lang="en-IN" sz="1100">
              <a:solidFill>
                <a:srgbClr val="FFFFFF"/>
              </a:solidFill>
              <a:latin typeface="Google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E1C74D-F545-45A1-EAB0-F6E1A76289E4}"/>
              </a:ext>
            </a:extLst>
          </p:cNvPr>
          <p:cNvSpPr/>
          <p:nvPr/>
        </p:nvSpPr>
        <p:spPr>
          <a:xfrm>
            <a:off x="4445000" y="3937000"/>
            <a:ext cx="3429000" cy="76200"/>
          </a:xfrm>
          <a:prstGeom prst="rect">
            <a:avLst/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4529E-DB2A-5B74-F563-7494B7FA665C}"/>
              </a:ext>
            </a:extLst>
          </p:cNvPr>
          <p:cNvSpPr/>
          <p:nvPr/>
        </p:nvSpPr>
        <p:spPr>
          <a:xfrm>
            <a:off x="4445000" y="4013200"/>
            <a:ext cx="3429000" cy="13970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CC356-24FD-E44D-13E7-B208805C1237}"/>
              </a:ext>
            </a:extLst>
          </p:cNvPr>
          <p:cNvSpPr txBox="1"/>
          <p:nvPr/>
        </p:nvSpPr>
        <p:spPr>
          <a:xfrm>
            <a:off x="4648200" y="4165600"/>
            <a:ext cx="302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AC0C6"/>
                </a:solidFill>
                <a:latin typeface="Google Sans"/>
              </a:rPr>
              <a:t>Next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4ABF8-652D-E403-A69B-2DF4F54610C7}"/>
              </a:ext>
            </a:extLst>
          </p:cNvPr>
          <p:cNvSpPr txBox="1"/>
          <p:nvPr/>
        </p:nvSpPr>
        <p:spPr>
          <a:xfrm>
            <a:off x="4648200" y="4470400"/>
            <a:ext cx="30226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Google Sans"/>
              </a:rPr>
              <a:t>Build the anonymized sample report from real engagements, the proof artifact every conversation needs.</a:t>
            </a:r>
            <a:endParaRPr lang="en-IN" sz="1100">
              <a:solidFill>
                <a:srgbClr val="FFFFFF"/>
              </a:solidFill>
              <a:latin typeface="Google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78B69-118B-B942-416A-81A898533546}"/>
              </a:ext>
            </a:extLst>
          </p:cNvPr>
          <p:cNvSpPr/>
          <p:nvPr/>
        </p:nvSpPr>
        <p:spPr>
          <a:xfrm>
            <a:off x="8128000" y="3937000"/>
            <a:ext cx="3429000" cy="76200"/>
          </a:xfrm>
          <a:prstGeom prst="rect">
            <a:avLst/>
          </a:prstGeom>
          <a:solidFill>
            <a:srgbClr val="1AC0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3B4D77-A56C-78F0-131D-6B6B036C6AC4}"/>
              </a:ext>
            </a:extLst>
          </p:cNvPr>
          <p:cNvSpPr/>
          <p:nvPr/>
        </p:nvSpPr>
        <p:spPr>
          <a:xfrm>
            <a:off x="8128000" y="4013200"/>
            <a:ext cx="3429000" cy="13970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4AEC4F-0881-CE8B-9FA7-B90B14FCCF44}"/>
              </a:ext>
            </a:extLst>
          </p:cNvPr>
          <p:cNvSpPr txBox="1"/>
          <p:nvPr/>
        </p:nvSpPr>
        <p:spPr>
          <a:xfrm>
            <a:off x="8331200" y="4165600"/>
            <a:ext cx="302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AC0C6"/>
                </a:solidFill>
                <a:latin typeface="Google Sans"/>
              </a:rPr>
              <a:t>Then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F9B8E-1052-AA82-8D72-364965B6A0D7}"/>
              </a:ext>
            </a:extLst>
          </p:cNvPr>
          <p:cNvSpPr txBox="1"/>
          <p:nvPr/>
        </p:nvSpPr>
        <p:spPr>
          <a:xfrm>
            <a:off x="8331200" y="4470400"/>
            <a:ext cx="302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Google Sans"/>
              </a:rPr>
              <a:t>Put it in front of the first prospect conversations and refine from what the market says back.</a:t>
            </a:r>
            <a:endParaRPr lang="en-IN" sz="1100">
              <a:solidFill>
                <a:srgbClr val="FFFFFF"/>
              </a:solidFill>
              <a:latin typeface="Google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A35476-03DA-A5A4-1F68-18FBF7CCC8D9}"/>
              </a:ext>
            </a:extLst>
          </p:cNvPr>
          <p:cNvSpPr txBox="1"/>
          <p:nvPr/>
        </p:nvSpPr>
        <p:spPr>
          <a:xfrm>
            <a:off x="4826000" y="6096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Google Sans"/>
              </a:rPr>
              <a:t>Techjays</a:t>
            </a:r>
          </a:p>
        </p:txBody>
      </p:sp>
    </p:spTree>
    <p:extLst>
      <p:ext uri="{BB962C8B-B14F-4D97-AF65-F5344CB8AC3E}">
        <p14:creationId xmlns:p14="http://schemas.microsoft.com/office/powerpoint/2010/main" val="381455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Office PowerPoint</Application>
  <PresentationFormat>Custom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Balasubramanian GR</dc:creator>
  <cp:lastModifiedBy>Balasubramanian GR</cp:lastModifiedBy>
  <cp:revision>1</cp:revision>
  <dcterms:created xsi:type="dcterms:W3CDTF">2026-08-03T13:24:34Z</dcterms:created>
  <dcterms:modified xsi:type="dcterms:W3CDTF">2026-08-03T13:24:34Z</dcterms:modified>
</cp:coreProperties>
</file>