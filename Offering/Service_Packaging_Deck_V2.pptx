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4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0458E-BC4D-5D2D-952F-92E0957FF4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98F02A-08BD-634C-F686-E6E37B6AFA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5F2E46-19ED-FDFD-7799-37019DCA020A}"/>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F4C81E59-7161-CE53-BA39-4C7208F92C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184E13-8910-8031-8831-05CA26EAD331}"/>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26503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71C7C-6353-0E80-F5E9-FB83D30524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958D4A-18F8-7322-514C-7A4B1E741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A70591-6D74-7B4B-E1EF-8FB3582FEB19}"/>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1F706411-9D83-3E77-5D98-850B243F95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AB78AF-4848-8694-9803-D9E164B08C3E}"/>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416893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49279-6062-0DCD-ACD0-FFFACF9000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F1D6B2-F7DC-C8A7-61CE-66C8D0B572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69D4F3-1058-7CA7-750B-C26E02E1934C}"/>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23AE1885-DF06-8CCC-788F-73A1D6B1E9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EF7B65-5F8E-F245-8791-CF62CD945AA6}"/>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090480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FBE68-6250-58A6-E49C-4F87D1D14E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1127A1-12AF-29EB-C377-D7D1A40F64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4893C1-8052-0605-18BA-6B0CF5581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6F95F2-B612-C89D-0179-03CE8FC90783}"/>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6" name="Footer Placeholder 5">
            <a:extLst>
              <a:ext uri="{FF2B5EF4-FFF2-40B4-BE49-F238E27FC236}">
                <a16:creationId xmlns:a16="http://schemas.microsoft.com/office/drawing/2014/main" id="{331DBD24-DF55-AF89-6BD2-A0B70DE81C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7C4A27-6570-749E-F7F1-129B3A235DFE}"/>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43365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10451-F7AD-1692-032D-A52E3A7F22D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1E602F-C0EA-4AC0-C0B9-2CCD565A75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21FF59-2456-8EC0-BF61-50BDCD8379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2D461C-9240-78EC-0DEF-E5AF328D78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341348-88B5-269A-6CC6-29D2BE4273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818EC3-32BD-7DFE-EB19-88529BD2D3F4}"/>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8" name="Footer Placeholder 7">
            <a:extLst>
              <a:ext uri="{FF2B5EF4-FFF2-40B4-BE49-F238E27FC236}">
                <a16:creationId xmlns:a16="http://schemas.microsoft.com/office/drawing/2014/main" id="{798ADE41-363C-7137-DAA8-C96362849E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D98E97-DBA1-8B56-8624-9D9D87DBCBA9}"/>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571184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E4A4D-EBDB-F9FB-576E-16913318B6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6112C30-5758-AAC9-3BA7-2C9B59788408}"/>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4" name="Footer Placeholder 3">
            <a:extLst>
              <a:ext uri="{FF2B5EF4-FFF2-40B4-BE49-F238E27FC236}">
                <a16:creationId xmlns:a16="http://schemas.microsoft.com/office/drawing/2014/main" id="{E3CD86CC-98F7-15D7-2681-EB4852E3AF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C53DE9-2E0A-DCE5-5F3D-BD0033B3D3D9}"/>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399231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386E8C-ED62-951C-3CD9-1583225977B9}"/>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3" name="Footer Placeholder 2">
            <a:extLst>
              <a:ext uri="{FF2B5EF4-FFF2-40B4-BE49-F238E27FC236}">
                <a16:creationId xmlns:a16="http://schemas.microsoft.com/office/drawing/2014/main" id="{88BE0C07-3CDE-277C-8F64-3967BD0E4B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C667745-AC71-6F0E-205A-19401E7B7D23}"/>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386086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8721-B695-5CB4-3E1C-22FAD181B4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46FB3A1-24CE-A7F7-CB96-6E65A565B9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FBD007-276C-6F6E-B232-E08B38639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71A5F7-961E-FD0B-78A7-B7CB94EAD25C}"/>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6" name="Footer Placeholder 5">
            <a:extLst>
              <a:ext uri="{FF2B5EF4-FFF2-40B4-BE49-F238E27FC236}">
                <a16:creationId xmlns:a16="http://schemas.microsoft.com/office/drawing/2014/main" id="{DB715720-6120-BEAF-CEAB-4EF5964437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255FB0-A220-8420-DE02-3AB657327E12}"/>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3182163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59AA-65FD-107F-BDC1-38079C55E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B4C0F5-42A8-48BF-2B74-B462B4AEE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E6BAC01-6FBF-E425-5C38-B4D57DA23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816B8B-B6D5-2AEA-2F0B-FB1693CEDFD1}"/>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6" name="Footer Placeholder 5">
            <a:extLst>
              <a:ext uri="{FF2B5EF4-FFF2-40B4-BE49-F238E27FC236}">
                <a16:creationId xmlns:a16="http://schemas.microsoft.com/office/drawing/2014/main" id="{4333966C-368C-8538-ABC8-9100BE4294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C4F60D-6539-4763-F4B0-A1292077576F}"/>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254572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8FB6-39D9-156D-3ADB-CBAF9DF02D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C0755B-7B28-4789-724A-6F6E79BF89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03835-918F-CC5C-C5C4-6B2CB4633F25}"/>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18029105-0F46-4413-748F-FEB662E076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6BA2A2-807E-D510-0EA0-1E5916302784}"/>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907290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06A28C-C8CF-C655-CCFE-1CC49C7A6C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95AF68-18AB-829C-4707-F3DD321E0D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FEF86A-0D81-664F-499F-DE7A19AF4A25}"/>
              </a:ext>
            </a:extLst>
          </p:cNvPr>
          <p:cNvSpPr>
            <a:spLocks noGrp="1"/>
          </p:cNvSpPr>
          <p:nvPr>
            <p:ph type="dt" sz="half" idx="10"/>
          </p:nvPr>
        </p:nvSpPr>
        <p:spPr/>
        <p:txBody>
          <a:body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836D49DF-DA61-EB61-DF12-57849143B1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ACA7E2-C34F-05D2-26DF-531CEF4C501A}"/>
              </a:ext>
            </a:extLst>
          </p:cNvPr>
          <p:cNvSpPr>
            <a:spLocks noGrp="1"/>
          </p:cNvSpPr>
          <p:nvPr>
            <p:ph type="sldNum" sz="quarter" idx="12"/>
          </p:nvPr>
        </p:nvSpPr>
        <p:spPr/>
        <p:txBody>
          <a:bodyPr/>
          <a:lstStyle/>
          <a:p>
            <a:fld id="{F2274571-C583-432D-B467-8D1AFDDEFF19}" type="slidenum">
              <a:rPr lang="en-IN" smtClean="0"/>
              <a:t>‹#›</a:t>
            </a:fld>
            <a:endParaRPr lang="en-IN"/>
          </a:p>
        </p:txBody>
      </p:sp>
    </p:spTree>
    <p:extLst>
      <p:ext uri="{BB962C8B-B14F-4D97-AF65-F5344CB8AC3E}">
        <p14:creationId xmlns:p14="http://schemas.microsoft.com/office/powerpoint/2010/main" val="3432250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6C5880-2C65-A1AC-8AA3-F7007A608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C8FD87-1E87-37CC-84D2-F742BCFE77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C0C2B4-D1FB-E38D-ADD9-6CADE6DBB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6D8B42-4774-4749-BACE-A0C40F8E5AB9}" type="datetimeFigureOut">
              <a:rPr lang="en-IN" smtClean="0"/>
              <a:t>04-08-2026</a:t>
            </a:fld>
            <a:endParaRPr lang="en-IN"/>
          </a:p>
        </p:txBody>
      </p:sp>
      <p:sp>
        <p:nvSpPr>
          <p:cNvPr id="5" name="Footer Placeholder 4">
            <a:extLst>
              <a:ext uri="{FF2B5EF4-FFF2-40B4-BE49-F238E27FC236}">
                <a16:creationId xmlns:a16="http://schemas.microsoft.com/office/drawing/2014/main" id="{B4B7CC91-ABD2-A013-BC1D-5095F2238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AEBFCC8-F109-6F56-81EF-59631C640B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274571-C583-432D-B467-8D1AFDDEFF19}" type="slidenum">
              <a:rPr lang="en-IN" smtClean="0"/>
              <a:t>‹#›</a:t>
            </a:fld>
            <a:endParaRPr lang="en-IN"/>
          </a:p>
        </p:txBody>
      </p:sp>
    </p:spTree>
    <p:extLst>
      <p:ext uri="{BB962C8B-B14F-4D97-AF65-F5344CB8AC3E}">
        <p14:creationId xmlns:p14="http://schemas.microsoft.com/office/powerpoint/2010/main" val="1241630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35D31C-69F2-3A3B-EF50-4043D09B5BF6}"/>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97CA6F20-E606-DB7A-CCF9-B0685E1171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BF8EB36B-B0E1-3877-61D7-CD49B8286C45}"/>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pic>
        <p:nvPicPr>
          <p:cNvPr id="8" name="Picture 7">
            <a:extLst>
              <a:ext uri="{FF2B5EF4-FFF2-40B4-BE49-F238E27FC236}">
                <a16:creationId xmlns:a16="http://schemas.microsoft.com/office/drawing/2014/main" id="{5BBB8C5E-BD61-9DE9-111B-1621B6E223A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85800" y="508000"/>
            <a:ext cx="1574800" cy="342900"/>
          </a:xfrm>
          <a:prstGeom prst="rect">
            <a:avLst/>
          </a:prstGeom>
        </p:spPr>
      </p:pic>
      <p:sp>
        <p:nvSpPr>
          <p:cNvPr id="9" name="TextBox 8">
            <a:extLst>
              <a:ext uri="{FF2B5EF4-FFF2-40B4-BE49-F238E27FC236}">
                <a16:creationId xmlns:a16="http://schemas.microsoft.com/office/drawing/2014/main" id="{009A0DA7-14A0-72F1-BF61-5E0DCE0C003B}"/>
              </a:ext>
            </a:extLst>
          </p:cNvPr>
          <p:cNvSpPr txBox="1"/>
          <p:nvPr/>
        </p:nvSpPr>
        <p:spPr>
          <a:xfrm>
            <a:off x="7846060" y="58420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AUG 2026  ·  WORKING DRAFT</a:t>
            </a:r>
          </a:p>
        </p:txBody>
      </p:sp>
      <p:sp>
        <p:nvSpPr>
          <p:cNvPr id="10" name="TextBox 9">
            <a:extLst>
              <a:ext uri="{FF2B5EF4-FFF2-40B4-BE49-F238E27FC236}">
                <a16:creationId xmlns:a16="http://schemas.microsoft.com/office/drawing/2014/main" id="{6F9AF6B9-F1A6-D309-3E32-83CF3F82CAD1}"/>
              </a:ext>
            </a:extLst>
          </p:cNvPr>
          <p:cNvSpPr txBox="1"/>
          <p:nvPr/>
        </p:nvSpPr>
        <p:spPr>
          <a:xfrm>
            <a:off x="685800" y="3810000"/>
            <a:ext cx="8890000" cy="200055"/>
          </a:xfrm>
          <a:prstGeom prst="rect">
            <a:avLst/>
          </a:prstGeom>
          <a:noFill/>
        </p:spPr>
        <p:txBody>
          <a:bodyPr vert="horz" wrap="square" lIns="0" tIns="0" rIns="0" bIns="0" rtlCol="0">
            <a:spAutoFit/>
          </a:bodyPr>
          <a:lstStyle/>
          <a:p>
            <a:r>
              <a:rPr lang="en-US" sz="1300" b="1" spc="110">
                <a:solidFill>
                  <a:srgbClr val="6870F8"/>
                </a:solidFill>
                <a:latin typeface="Google Sans"/>
              </a:rPr>
              <a:t>SERVICE PACKAGING  ·  TECHJAYS AI CONSULTING PRACTICE</a:t>
            </a:r>
            <a:endParaRPr lang="en-IN" sz="1300" b="1" spc="110">
              <a:solidFill>
                <a:srgbClr val="6870F8"/>
              </a:solidFill>
              <a:latin typeface="Google Sans"/>
            </a:endParaRPr>
          </a:p>
        </p:txBody>
      </p:sp>
      <p:sp>
        <p:nvSpPr>
          <p:cNvPr id="11" name="TextBox 10">
            <a:extLst>
              <a:ext uri="{FF2B5EF4-FFF2-40B4-BE49-F238E27FC236}">
                <a16:creationId xmlns:a16="http://schemas.microsoft.com/office/drawing/2014/main" id="{A91E549C-15B5-2A92-5394-518FEAF59D95}"/>
              </a:ext>
            </a:extLst>
          </p:cNvPr>
          <p:cNvSpPr txBox="1"/>
          <p:nvPr/>
        </p:nvSpPr>
        <p:spPr>
          <a:xfrm>
            <a:off x="685800" y="4140200"/>
            <a:ext cx="10541000" cy="276999"/>
          </a:xfrm>
          <a:prstGeom prst="rect">
            <a:avLst/>
          </a:prstGeom>
          <a:noFill/>
        </p:spPr>
        <p:txBody>
          <a:bodyPr vert="horz" wrap="square" lIns="0" tIns="0" rIns="0" bIns="0" rtlCol="0">
            <a:noAutofit/>
          </a:bodyPr>
          <a:lstStyle/>
          <a:p>
            <a:r>
              <a:rPr lang="en-US" sz="5600" b="1">
                <a:solidFill>
                  <a:srgbClr val="141414"/>
                </a:solidFill>
                <a:latin typeface="Google Sans"/>
              </a:rPr>
              <a:t>The AI and Automation Opportunity Study.</a:t>
            </a:r>
            <a:endParaRPr lang="en-IN" sz="5600" b="1">
              <a:solidFill>
                <a:srgbClr val="141414"/>
              </a:solidFill>
              <a:latin typeface="Google Sans"/>
            </a:endParaRPr>
          </a:p>
        </p:txBody>
      </p:sp>
      <p:sp>
        <p:nvSpPr>
          <p:cNvPr id="12" name="TextBox 11">
            <a:extLst>
              <a:ext uri="{FF2B5EF4-FFF2-40B4-BE49-F238E27FC236}">
                <a16:creationId xmlns:a16="http://schemas.microsoft.com/office/drawing/2014/main" id="{586B7DE5-F776-077F-C3FF-55BE8D7D44AD}"/>
              </a:ext>
            </a:extLst>
          </p:cNvPr>
          <p:cNvSpPr txBox="1"/>
          <p:nvPr/>
        </p:nvSpPr>
        <p:spPr>
          <a:xfrm>
            <a:off x="685800" y="5943600"/>
            <a:ext cx="8890000" cy="276999"/>
          </a:xfrm>
          <a:prstGeom prst="rect">
            <a:avLst/>
          </a:prstGeom>
          <a:noFill/>
        </p:spPr>
        <p:txBody>
          <a:bodyPr vert="horz" wrap="square" lIns="0" tIns="0" rIns="0" bIns="0" rtlCol="0">
            <a:noAutofit/>
          </a:bodyPr>
          <a:lstStyle/>
          <a:p>
            <a:r>
              <a:rPr lang="en-US" sz="1550">
                <a:solidFill>
                  <a:srgbClr val="6B7280"/>
                </a:solidFill>
                <a:latin typeface="Google Sans"/>
              </a:rPr>
              <a:t>How we describe it, how we sell it, and why clients choose Techjays.</a:t>
            </a:r>
            <a:endParaRPr lang="en-IN" sz="1550">
              <a:solidFill>
                <a:srgbClr val="6B7280"/>
              </a:solidFill>
              <a:latin typeface="Google Sans"/>
            </a:endParaRPr>
          </a:p>
        </p:txBody>
      </p:sp>
    </p:spTree>
    <p:extLst>
      <p:ext uri="{BB962C8B-B14F-4D97-AF65-F5344CB8AC3E}">
        <p14:creationId xmlns:p14="http://schemas.microsoft.com/office/powerpoint/2010/main" val="2653338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F6A775-D9CE-A93E-8FE6-A7EA90C644A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5D05388B-39F5-0889-25F5-9BE222368D6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3CEA5794-0AB9-8734-9EE2-B64F737ADC92}"/>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sp>
        <p:nvSpPr>
          <p:cNvPr id="7" name="TextBox 6">
            <a:extLst>
              <a:ext uri="{FF2B5EF4-FFF2-40B4-BE49-F238E27FC236}">
                <a16:creationId xmlns:a16="http://schemas.microsoft.com/office/drawing/2014/main" id="{F31423B1-49EF-408B-BC0A-48A6F0E4D8E8}"/>
              </a:ext>
            </a:extLst>
          </p:cNvPr>
          <p:cNvSpPr txBox="1"/>
          <p:nvPr/>
        </p:nvSpPr>
        <p:spPr>
          <a:xfrm>
            <a:off x="685800" y="546100"/>
            <a:ext cx="5080000" cy="200055"/>
          </a:xfrm>
          <a:prstGeom prst="rect">
            <a:avLst/>
          </a:prstGeom>
          <a:noFill/>
        </p:spPr>
        <p:txBody>
          <a:bodyPr vert="horz" wrap="square" lIns="0" tIns="0" rIns="0" bIns="0" rtlCol="0">
            <a:spAutoFit/>
          </a:bodyPr>
          <a:lstStyle/>
          <a:p>
            <a:r>
              <a:rPr lang="en-IN" sz="1300" b="1" spc="110">
                <a:solidFill>
                  <a:srgbClr val="141414"/>
                </a:solidFill>
                <a:latin typeface="Google Sans"/>
              </a:rPr>
              <a:t>THE SERVICE</a:t>
            </a:r>
          </a:p>
        </p:txBody>
      </p:sp>
      <p:sp>
        <p:nvSpPr>
          <p:cNvPr id="8" name="TextBox 7">
            <a:extLst>
              <a:ext uri="{FF2B5EF4-FFF2-40B4-BE49-F238E27FC236}">
                <a16:creationId xmlns:a16="http://schemas.microsoft.com/office/drawing/2014/main" id="{0ED45625-BE6A-6B8E-D0D4-53D9FAFC93D5}"/>
              </a:ext>
            </a:extLst>
          </p:cNvPr>
          <p:cNvSpPr txBox="1"/>
          <p:nvPr/>
        </p:nvSpPr>
        <p:spPr>
          <a:xfrm>
            <a:off x="7846060" y="56642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02  /  07</a:t>
            </a:r>
          </a:p>
        </p:txBody>
      </p:sp>
      <p:sp>
        <p:nvSpPr>
          <p:cNvPr id="9" name="TextBox 8">
            <a:extLst>
              <a:ext uri="{FF2B5EF4-FFF2-40B4-BE49-F238E27FC236}">
                <a16:creationId xmlns:a16="http://schemas.microsoft.com/office/drawing/2014/main" id="{3133A9DD-9099-4670-7E89-7D7A738F13F9}"/>
              </a:ext>
            </a:extLst>
          </p:cNvPr>
          <p:cNvSpPr txBox="1"/>
          <p:nvPr/>
        </p:nvSpPr>
        <p:spPr>
          <a:xfrm>
            <a:off x="685800" y="1117600"/>
            <a:ext cx="10160000" cy="276999"/>
          </a:xfrm>
          <a:prstGeom prst="rect">
            <a:avLst/>
          </a:prstGeom>
          <a:noFill/>
        </p:spPr>
        <p:txBody>
          <a:bodyPr vert="horz" wrap="square" lIns="0" tIns="0" rIns="0" bIns="0" rtlCol="0">
            <a:noAutofit/>
          </a:bodyPr>
          <a:lstStyle/>
          <a:p>
            <a:r>
              <a:rPr lang="en-US" sz="3200" b="1">
                <a:solidFill>
                  <a:srgbClr val="141414"/>
                </a:solidFill>
                <a:latin typeface="Google Sans"/>
              </a:rPr>
              <a:t>A six to eight week study that turns</a:t>
            </a:r>
          </a:p>
          <a:p>
            <a:r>
              <a:rPr lang="en-US" sz="3200" b="1">
                <a:solidFill>
                  <a:srgbClr val="141414"/>
                </a:solidFill>
                <a:latin typeface="Google Sans"/>
              </a:rPr>
              <a:t>“we know AI matters” into a costed, prioritized roadmap.</a:t>
            </a:r>
            <a:endParaRPr lang="en-IN" sz="3200" b="1">
              <a:solidFill>
                <a:srgbClr val="141414"/>
              </a:solidFill>
              <a:latin typeface="Google Sans"/>
            </a:endParaRPr>
          </a:p>
        </p:txBody>
      </p:sp>
      <p:sp>
        <p:nvSpPr>
          <p:cNvPr id="10" name="TextBox 9">
            <a:extLst>
              <a:ext uri="{FF2B5EF4-FFF2-40B4-BE49-F238E27FC236}">
                <a16:creationId xmlns:a16="http://schemas.microsoft.com/office/drawing/2014/main" id="{9780441F-C481-7327-36A5-54521214F0A7}"/>
              </a:ext>
            </a:extLst>
          </p:cNvPr>
          <p:cNvSpPr txBox="1"/>
          <p:nvPr/>
        </p:nvSpPr>
        <p:spPr>
          <a:xfrm>
            <a:off x="685800" y="2362200"/>
            <a:ext cx="10414000" cy="276999"/>
          </a:xfrm>
          <a:prstGeom prst="rect">
            <a:avLst/>
          </a:prstGeom>
          <a:noFill/>
        </p:spPr>
        <p:txBody>
          <a:bodyPr vert="horz" wrap="square" lIns="0" tIns="0" rIns="0" bIns="0" rtlCol="0">
            <a:noAutofit/>
          </a:bodyPr>
          <a:lstStyle/>
          <a:p>
            <a:r>
              <a:rPr lang="en-US" sz="1400">
                <a:solidFill>
                  <a:srgbClr val="6B7280"/>
                </a:solidFill>
                <a:latin typeface="Google Sans"/>
              </a:rPr>
              <a:t>Fixed fee. We map how the business actually runs, identify where process re-engineering, automation, and AI can grow revenue per employee, and deliver a stack-ranked plan the client can execute immediately, in-house or with us.</a:t>
            </a:r>
            <a:endParaRPr lang="en-IN" sz="1400">
              <a:solidFill>
                <a:srgbClr val="6B7280"/>
              </a:solidFill>
              <a:latin typeface="Google Sans"/>
            </a:endParaRPr>
          </a:p>
        </p:txBody>
      </p:sp>
      <p:cxnSp>
        <p:nvCxnSpPr>
          <p:cNvPr id="11" name="Straight Connector 10">
            <a:extLst>
              <a:ext uri="{FF2B5EF4-FFF2-40B4-BE49-F238E27FC236}">
                <a16:creationId xmlns:a16="http://schemas.microsoft.com/office/drawing/2014/main" id="{C089798D-9ED9-F30A-1981-171737B903FC}"/>
              </a:ext>
            </a:extLst>
          </p:cNvPr>
          <p:cNvCxnSpPr/>
          <p:nvPr/>
        </p:nvCxnSpPr>
        <p:spPr>
          <a:xfrm>
            <a:off x="685800" y="3149600"/>
            <a:ext cx="10817860" cy="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BF280AB8-4783-E42A-8E4E-1C7C049759F7}"/>
              </a:ext>
            </a:extLst>
          </p:cNvPr>
          <p:cNvSpPr/>
          <p:nvPr/>
        </p:nvSpPr>
        <p:spPr>
          <a:xfrm>
            <a:off x="685800" y="35814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7C388B6-8ECF-79F8-2CC7-DE6B7BE78006}"/>
              </a:ext>
            </a:extLst>
          </p:cNvPr>
          <p:cNvSpPr txBox="1"/>
          <p:nvPr/>
        </p:nvSpPr>
        <p:spPr>
          <a:xfrm>
            <a:off x="965200" y="35306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The stall is organizational</a:t>
            </a:r>
            <a:r>
              <a:rPr lang="en-US" sz="1300">
                <a:solidFill>
                  <a:srgbClr val="6B7280"/>
                </a:solidFill>
                <a:latin typeface="Google Sans"/>
              </a:rPr>
              <a:t>  —  most companies are stuck between AI pilots and real impact; the block is workflows and structure, not technology.</a:t>
            </a:r>
            <a:endParaRPr lang="en-IN" sz="1300">
              <a:solidFill>
                <a:srgbClr val="6B7280"/>
              </a:solidFill>
              <a:latin typeface="Google Sans"/>
            </a:endParaRPr>
          </a:p>
        </p:txBody>
      </p:sp>
      <p:sp>
        <p:nvSpPr>
          <p:cNvPr id="14" name="Rectangle 13">
            <a:extLst>
              <a:ext uri="{FF2B5EF4-FFF2-40B4-BE49-F238E27FC236}">
                <a16:creationId xmlns:a16="http://schemas.microsoft.com/office/drawing/2014/main" id="{AC8E422A-2ADE-D937-DDE8-5435A8F9D77A}"/>
              </a:ext>
            </a:extLst>
          </p:cNvPr>
          <p:cNvSpPr/>
          <p:nvPr/>
        </p:nvSpPr>
        <p:spPr>
          <a:xfrm>
            <a:off x="685800" y="4292600"/>
            <a:ext cx="127000" cy="127000"/>
          </a:xfrm>
          <a:prstGeom prst="rect">
            <a:avLst/>
          </a:prstGeom>
          <a:solidFill>
            <a:srgbClr val="E3A0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41891763-E988-D3F8-D161-2E8F2034C44C}"/>
              </a:ext>
            </a:extLst>
          </p:cNvPr>
          <p:cNvSpPr txBox="1"/>
          <p:nvPr/>
        </p:nvSpPr>
        <p:spPr>
          <a:xfrm>
            <a:off x="965200" y="42418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We study it like engineers</a:t>
            </a:r>
            <a:r>
              <a:rPr lang="en-US" sz="1300">
                <a:solidFill>
                  <a:srgbClr val="6B7280"/>
                </a:solidFill>
                <a:latin typeface="Google Sans"/>
              </a:rPr>
              <a:t>  —  process by process, quantifying where the leverage actually is.</a:t>
            </a:r>
            <a:endParaRPr lang="en-IN" sz="1300">
              <a:solidFill>
                <a:srgbClr val="6B7280"/>
              </a:solidFill>
              <a:latin typeface="Google Sans"/>
            </a:endParaRPr>
          </a:p>
        </p:txBody>
      </p:sp>
      <p:sp>
        <p:nvSpPr>
          <p:cNvPr id="16" name="Rectangle 15">
            <a:extLst>
              <a:ext uri="{FF2B5EF4-FFF2-40B4-BE49-F238E27FC236}">
                <a16:creationId xmlns:a16="http://schemas.microsoft.com/office/drawing/2014/main" id="{F7F46BDE-BB1F-1B15-C887-C178856CCDFB}"/>
              </a:ext>
            </a:extLst>
          </p:cNvPr>
          <p:cNvSpPr/>
          <p:nvPr/>
        </p:nvSpPr>
        <p:spPr>
          <a:xfrm>
            <a:off x="685800" y="5003800"/>
            <a:ext cx="127000" cy="127000"/>
          </a:xfrm>
          <a:prstGeom prst="rect">
            <a:avLst/>
          </a:prstGeom>
          <a:solidFill>
            <a:srgbClr val="1FA9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BCBF503B-A6BB-0913-5C16-754BEBE6EE6E}"/>
              </a:ext>
            </a:extLst>
          </p:cNvPr>
          <p:cNvSpPr txBox="1"/>
          <p:nvPr/>
        </p:nvSpPr>
        <p:spPr>
          <a:xfrm>
            <a:off x="965200" y="49530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Numbers leadership can defend</a:t>
            </a:r>
            <a:r>
              <a:rPr lang="en-US" sz="1300">
                <a:solidFill>
                  <a:srgbClr val="6B7280"/>
                </a:solidFill>
                <a:latin typeface="Google Sans"/>
              </a:rPr>
              <a:t>  —  a prioritized plan with a costed first 90 days, delivered to the board in six to eight weeks.</a:t>
            </a:r>
            <a:endParaRPr lang="en-IN" sz="1300">
              <a:solidFill>
                <a:srgbClr val="6B7280"/>
              </a:solidFill>
              <a:latin typeface="Google Sans"/>
            </a:endParaRPr>
          </a:p>
        </p:txBody>
      </p:sp>
      <p:sp>
        <p:nvSpPr>
          <p:cNvPr id="18" name="TextBox 17">
            <a:extLst>
              <a:ext uri="{FF2B5EF4-FFF2-40B4-BE49-F238E27FC236}">
                <a16:creationId xmlns:a16="http://schemas.microsoft.com/office/drawing/2014/main" id="{CE132DCB-E5D5-E191-B580-174E0281CC76}"/>
              </a:ext>
            </a:extLst>
          </p:cNvPr>
          <p:cNvSpPr txBox="1"/>
          <p:nvPr/>
        </p:nvSpPr>
        <p:spPr>
          <a:xfrm>
            <a:off x="685800" y="5867400"/>
            <a:ext cx="10414000" cy="276999"/>
          </a:xfrm>
          <a:prstGeom prst="rect">
            <a:avLst/>
          </a:prstGeom>
          <a:noFill/>
        </p:spPr>
        <p:txBody>
          <a:bodyPr vert="horz" wrap="square" lIns="0" tIns="0" rIns="0" bIns="0" rtlCol="0">
            <a:noAutofit/>
          </a:bodyPr>
          <a:lstStyle/>
          <a:p>
            <a:r>
              <a:rPr lang="en-US" sz="950">
                <a:solidFill>
                  <a:srgbClr val="6B7280"/>
                </a:solidFill>
                <a:latin typeface="Google Sans"/>
              </a:rPr>
              <a:t>MIT NANDA, The GenAI Divide 2025: about 95% of enterprise gen AI pilots show little to no measurable P&amp;L impact, attributed to workflow integration, not model quality.</a:t>
            </a:r>
          </a:p>
          <a:p>
            <a:r>
              <a:rPr lang="en-US" sz="950">
                <a:solidFill>
                  <a:srgbClr val="6B7280"/>
                </a:solidFill>
                <a:latin typeface="Google Sans"/>
              </a:rPr>
              <a:t>McKinsey, The State of AI 2025: workflow redesign is the strongest of 25 factors driving AI’s bottom-line impact; only 21% of companies have done it.</a:t>
            </a:r>
            <a:endParaRPr lang="en-IN" sz="950">
              <a:solidFill>
                <a:srgbClr val="6B7280"/>
              </a:solidFill>
              <a:latin typeface="Google Sans"/>
            </a:endParaRPr>
          </a:p>
        </p:txBody>
      </p:sp>
    </p:spTree>
    <p:extLst>
      <p:ext uri="{BB962C8B-B14F-4D97-AF65-F5344CB8AC3E}">
        <p14:creationId xmlns:p14="http://schemas.microsoft.com/office/powerpoint/2010/main" val="2861544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F63D7E-736B-57F8-071E-290C507C06F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E65283D1-9237-34DD-DE69-3378DA20306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7A524E68-7584-0D72-C047-C473E2DFC8B2}"/>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sp>
        <p:nvSpPr>
          <p:cNvPr id="7" name="TextBox 6">
            <a:extLst>
              <a:ext uri="{FF2B5EF4-FFF2-40B4-BE49-F238E27FC236}">
                <a16:creationId xmlns:a16="http://schemas.microsoft.com/office/drawing/2014/main" id="{AF15C63F-1C20-F593-EB0C-E48B662A2CAB}"/>
              </a:ext>
            </a:extLst>
          </p:cNvPr>
          <p:cNvSpPr txBox="1"/>
          <p:nvPr/>
        </p:nvSpPr>
        <p:spPr>
          <a:xfrm>
            <a:off x="685800" y="546100"/>
            <a:ext cx="5080000" cy="200055"/>
          </a:xfrm>
          <a:prstGeom prst="rect">
            <a:avLst/>
          </a:prstGeom>
          <a:noFill/>
        </p:spPr>
        <p:txBody>
          <a:bodyPr vert="horz" wrap="square" lIns="0" tIns="0" rIns="0" bIns="0" rtlCol="0">
            <a:spAutoFit/>
          </a:bodyPr>
          <a:lstStyle/>
          <a:p>
            <a:r>
              <a:rPr lang="en-IN" sz="1300" b="1" spc="110">
                <a:solidFill>
                  <a:srgbClr val="141414"/>
                </a:solidFill>
                <a:latin typeface="Google Sans"/>
              </a:rPr>
              <a:t>HOW IT WORKS</a:t>
            </a:r>
          </a:p>
        </p:txBody>
      </p:sp>
      <p:sp>
        <p:nvSpPr>
          <p:cNvPr id="8" name="TextBox 7">
            <a:extLst>
              <a:ext uri="{FF2B5EF4-FFF2-40B4-BE49-F238E27FC236}">
                <a16:creationId xmlns:a16="http://schemas.microsoft.com/office/drawing/2014/main" id="{796F58D5-5CD0-B41D-C509-D26A7F6777BD}"/>
              </a:ext>
            </a:extLst>
          </p:cNvPr>
          <p:cNvSpPr txBox="1"/>
          <p:nvPr/>
        </p:nvSpPr>
        <p:spPr>
          <a:xfrm>
            <a:off x="7846060" y="56642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03  /  07</a:t>
            </a:r>
          </a:p>
        </p:txBody>
      </p:sp>
      <p:sp>
        <p:nvSpPr>
          <p:cNvPr id="9" name="TextBox 8">
            <a:extLst>
              <a:ext uri="{FF2B5EF4-FFF2-40B4-BE49-F238E27FC236}">
                <a16:creationId xmlns:a16="http://schemas.microsoft.com/office/drawing/2014/main" id="{257A8C38-8755-9BE4-00F8-D0C39C9DF3AC}"/>
              </a:ext>
            </a:extLst>
          </p:cNvPr>
          <p:cNvSpPr txBox="1"/>
          <p:nvPr/>
        </p:nvSpPr>
        <p:spPr>
          <a:xfrm>
            <a:off x="685800" y="1117600"/>
            <a:ext cx="10414000" cy="276999"/>
          </a:xfrm>
          <a:prstGeom prst="rect">
            <a:avLst/>
          </a:prstGeom>
          <a:noFill/>
        </p:spPr>
        <p:txBody>
          <a:bodyPr vert="horz" wrap="square" lIns="0" tIns="0" rIns="0" bIns="0" rtlCol="0">
            <a:noAutofit/>
          </a:bodyPr>
          <a:lstStyle/>
          <a:p>
            <a:r>
              <a:rPr lang="en-US" sz="3200" b="1">
                <a:solidFill>
                  <a:srgbClr val="141414"/>
                </a:solidFill>
                <a:latin typeface="Google Sans"/>
              </a:rPr>
              <a:t>Re-engineer first. Automate next. AI where it changes the economics.</a:t>
            </a:r>
            <a:endParaRPr lang="en-IN" sz="3200" b="1">
              <a:solidFill>
                <a:srgbClr val="141414"/>
              </a:solidFill>
              <a:latin typeface="Google Sans"/>
            </a:endParaRPr>
          </a:p>
        </p:txBody>
      </p:sp>
      <p:sp>
        <p:nvSpPr>
          <p:cNvPr id="10" name="TextBox 9">
            <a:extLst>
              <a:ext uri="{FF2B5EF4-FFF2-40B4-BE49-F238E27FC236}">
                <a16:creationId xmlns:a16="http://schemas.microsoft.com/office/drawing/2014/main" id="{4D6F910B-B485-1895-EE22-73D8A4009FDA}"/>
              </a:ext>
            </a:extLst>
          </p:cNvPr>
          <p:cNvSpPr txBox="1"/>
          <p:nvPr/>
        </p:nvSpPr>
        <p:spPr>
          <a:xfrm>
            <a:off x="685800" y="2286000"/>
            <a:ext cx="10414000" cy="276999"/>
          </a:xfrm>
          <a:prstGeom prst="rect">
            <a:avLst/>
          </a:prstGeom>
          <a:noFill/>
        </p:spPr>
        <p:txBody>
          <a:bodyPr vert="horz" wrap="square" lIns="0" tIns="0" rIns="0" bIns="0" rtlCol="0">
            <a:noAutofit/>
          </a:bodyPr>
          <a:lstStyle/>
          <a:p>
            <a:r>
              <a:rPr lang="en-US" sz="1350">
                <a:solidFill>
                  <a:srgbClr val="6B7280"/>
                </a:solidFill>
                <a:latin typeface="Google Sans"/>
              </a:rPr>
              <a:t>Every process goes through the same three layers, in order. Every opportunity comes out costed and stack-ranked on return vs effort.</a:t>
            </a:r>
            <a:endParaRPr lang="en-IN" sz="1350">
              <a:solidFill>
                <a:srgbClr val="6B7280"/>
              </a:solidFill>
              <a:latin typeface="Google Sans"/>
            </a:endParaRPr>
          </a:p>
        </p:txBody>
      </p:sp>
      <p:cxnSp>
        <p:nvCxnSpPr>
          <p:cNvPr id="11" name="Straight Connector 10">
            <a:extLst>
              <a:ext uri="{FF2B5EF4-FFF2-40B4-BE49-F238E27FC236}">
                <a16:creationId xmlns:a16="http://schemas.microsoft.com/office/drawing/2014/main" id="{32E3A829-9C90-8D25-2AE8-332E3994BB21}"/>
              </a:ext>
            </a:extLst>
          </p:cNvPr>
          <p:cNvCxnSpPr/>
          <p:nvPr/>
        </p:nvCxnSpPr>
        <p:spPr>
          <a:xfrm>
            <a:off x="685800" y="2768600"/>
            <a:ext cx="10817860" cy="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AEF1DAB-1737-753D-97CC-7987A32F1324}"/>
              </a:ext>
            </a:extLst>
          </p:cNvPr>
          <p:cNvSpPr/>
          <p:nvPr/>
        </p:nvSpPr>
        <p:spPr>
          <a:xfrm>
            <a:off x="685800" y="29972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715AF23-8D8C-20B6-B3B1-F26B43F68DD7}"/>
              </a:ext>
            </a:extLst>
          </p:cNvPr>
          <p:cNvSpPr txBox="1"/>
          <p:nvPr/>
        </p:nvSpPr>
        <p:spPr>
          <a:xfrm>
            <a:off x="914400" y="2870200"/>
            <a:ext cx="762000" cy="276999"/>
          </a:xfrm>
          <a:prstGeom prst="rect">
            <a:avLst/>
          </a:prstGeom>
          <a:noFill/>
        </p:spPr>
        <p:txBody>
          <a:bodyPr vert="horz" wrap="square" lIns="0" tIns="0" rIns="0" bIns="0" rtlCol="0">
            <a:noAutofit/>
          </a:bodyPr>
          <a:lstStyle/>
          <a:p>
            <a:r>
              <a:rPr lang="en-IN" sz="3000" b="1">
                <a:solidFill>
                  <a:srgbClr val="6870F8"/>
                </a:solidFill>
                <a:latin typeface="Google Sans"/>
              </a:rPr>
              <a:t>01</a:t>
            </a:r>
          </a:p>
        </p:txBody>
      </p:sp>
      <p:sp>
        <p:nvSpPr>
          <p:cNvPr id="14" name="TextBox 13">
            <a:extLst>
              <a:ext uri="{FF2B5EF4-FFF2-40B4-BE49-F238E27FC236}">
                <a16:creationId xmlns:a16="http://schemas.microsoft.com/office/drawing/2014/main" id="{07FD433A-A6D7-7478-BB5B-610083620A44}"/>
              </a:ext>
            </a:extLst>
          </p:cNvPr>
          <p:cNvSpPr txBox="1"/>
          <p:nvPr/>
        </p:nvSpPr>
        <p:spPr>
          <a:xfrm>
            <a:off x="685800" y="3403600"/>
            <a:ext cx="2399665" cy="276999"/>
          </a:xfrm>
          <a:prstGeom prst="rect">
            <a:avLst/>
          </a:prstGeom>
          <a:noFill/>
        </p:spPr>
        <p:txBody>
          <a:bodyPr vert="horz" wrap="square" lIns="0" tIns="0" rIns="0" bIns="0" rtlCol="0">
            <a:noAutofit/>
          </a:bodyPr>
          <a:lstStyle/>
          <a:p>
            <a:r>
              <a:rPr lang="en-IN" sz="1500" b="1">
                <a:solidFill>
                  <a:srgbClr val="141414"/>
                </a:solidFill>
                <a:latin typeface="Google Sans"/>
              </a:rPr>
              <a:t>Re-engineer</a:t>
            </a:r>
          </a:p>
        </p:txBody>
      </p:sp>
      <p:sp>
        <p:nvSpPr>
          <p:cNvPr id="15" name="TextBox 14">
            <a:extLst>
              <a:ext uri="{FF2B5EF4-FFF2-40B4-BE49-F238E27FC236}">
                <a16:creationId xmlns:a16="http://schemas.microsoft.com/office/drawing/2014/main" id="{6B8DC985-CF15-39FF-991B-D9B7FD01CAE7}"/>
              </a:ext>
            </a:extLst>
          </p:cNvPr>
          <p:cNvSpPr txBox="1"/>
          <p:nvPr/>
        </p:nvSpPr>
        <p:spPr>
          <a:xfrm>
            <a:off x="685800" y="3708400"/>
            <a:ext cx="2399665" cy="276999"/>
          </a:xfrm>
          <a:prstGeom prst="rect">
            <a:avLst/>
          </a:prstGeom>
          <a:noFill/>
        </p:spPr>
        <p:txBody>
          <a:bodyPr vert="horz" wrap="square" lIns="0" tIns="0" rIns="0" bIns="0" rtlCol="0">
            <a:noAutofit/>
          </a:bodyPr>
          <a:lstStyle/>
          <a:p>
            <a:r>
              <a:rPr lang="en-US" sz="1150">
                <a:solidFill>
                  <a:srgbClr val="6B7280"/>
                </a:solidFill>
                <a:latin typeface="Google Sans"/>
              </a:rPr>
              <a:t>Simplify the process before any technology is added.</a:t>
            </a:r>
            <a:endParaRPr lang="en-IN" sz="1150">
              <a:solidFill>
                <a:srgbClr val="6B7280"/>
              </a:solidFill>
              <a:latin typeface="Google Sans"/>
            </a:endParaRPr>
          </a:p>
        </p:txBody>
      </p:sp>
      <p:sp>
        <p:nvSpPr>
          <p:cNvPr id="16" name="Rectangle 15">
            <a:extLst>
              <a:ext uri="{FF2B5EF4-FFF2-40B4-BE49-F238E27FC236}">
                <a16:creationId xmlns:a16="http://schemas.microsoft.com/office/drawing/2014/main" id="{074EC310-6495-0858-571A-3EC5A5D0644C}"/>
              </a:ext>
            </a:extLst>
          </p:cNvPr>
          <p:cNvSpPr/>
          <p:nvPr/>
        </p:nvSpPr>
        <p:spPr>
          <a:xfrm>
            <a:off x="3390265" y="2997200"/>
            <a:ext cx="127000" cy="127000"/>
          </a:xfrm>
          <a:prstGeom prst="rect">
            <a:avLst/>
          </a:prstGeom>
          <a:solidFill>
            <a:srgbClr val="E3A0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A5DA5323-387F-64C4-03BA-0B904327AED8}"/>
              </a:ext>
            </a:extLst>
          </p:cNvPr>
          <p:cNvSpPr txBox="1"/>
          <p:nvPr/>
        </p:nvSpPr>
        <p:spPr>
          <a:xfrm>
            <a:off x="3618865" y="2870200"/>
            <a:ext cx="762000" cy="276999"/>
          </a:xfrm>
          <a:prstGeom prst="rect">
            <a:avLst/>
          </a:prstGeom>
          <a:noFill/>
        </p:spPr>
        <p:txBody>
          <a:bodyPr vert="horz" wrap="square" lIns="0" tIns="0" rIns="0" bIns="0" rtlCol="0">
            <a:noAutofit/>
          </a:bodyPr>
          <a:lstStyle/>
          <a:p>
            <a:r>
              <a:rPr lang="en-IN" sz="3000" b="1">
                <a:solidFill>
                  <a:srgbClr val="E3A03C"/>
                </a:solidFill>
                <a:latin typeface="Google Sans"/>
              </a:rPr>
              <a:t>02</a:t>
            </a:r>
          </a:p>
        </p:txBody>
      </p:sp>
      <p:sp>
        <p:nvSpPr>
          <p:cNvPr id="18" name="TextBox 17">
            <a:extLst>
              <a:ext uri="{FF2B5EF4-FFF2-40B4-BE49-F238E27FC236}">
                <a16:creationId xmlns:a16="http://schemas.microsoft.com/office/drawing/2014/main" id="{EC4A0140-8FCF-3092-2BB8-86DB7F715DDB}"/>
              </a:ext>
            </a:extLst>
          </p:cNvPr>
          <p:cNvSpPr txBox="1"/>
          <p:nvPr/>
        </p:nvSpPr>
        <p:spPr>
          <a:xfrm>
            <a:off x="3390265" y="3403600"/>
            <a:ext cx="2399665" cy="276999"/>
          </a:xfrm>
          <a:prstGeom prst="rect">
            <a:avLst/>
          </a:prstGeom>
          <a:noFill/>
        </p:spPr>
        <p:txBody>
          <a:bodyPr vert="horz" wrap="square" lIns="0" tIns="0" rIns="0" bIns="0" rtlCol="0">
            <a:noAutofit/>
          </a:bodyPr>
          <a:lstStyle/>
          <a:p>
            <a:r>
              <a:rPr lang="en-IN" sz="1500" b="1">
                <a:solidFill>
                  <a:srgbClr val="141414"/>
                </a:solidFill>
                <a:latin typeface="Google Sans"/>
              </a:rPr>
              <a:t>Automate</a:t>
            </a:r>
          </a:p>
        </p:txBody>
      </p:sp>
      <p:sp>
        <p:nvSpPr>
          <p:cNvPr id="19" name="TextBox 18">
            <a:extLst>
              <a:ext uri="{FF2B5EF4-FFF2-40B4-BE49-F238E27FC236}">
                <a16:creationId xmlns:a16="http://schemas.microsoft.com/office/drawing/2014/main" id="{A91A60BA-1DB5-6EDB-82CE-751E47B1B718}"/>
              </a:ext>
            </a:extLst>
          </p:cNvPr>
          <p:cNvSpPr txBox="1"/>
          <p:nvPr/>
        </p:nvSpPr>
        <p:spPr>
          <a:xfrm>
            <a:off x="3390265" y="3708400"/>
            <a:ext cx="2399665" cy="276999"/>
          </a:xfrm>
          <a:prstGeom prst="rect">
            <a:avLst/>
          </a:prstGeom>
          <a:noFill/>
        </p:spPr>
        <p:txBody>
          <a:bodyPr vert="horz" wrap="square" lIns="0" tIns="0" rIns="0" bIns="0" rtlCol="0">
            <a:noAutofit/>
          </a:bodyPr>
          <a:lstStyle/>
          <a:p>
            <a:r>
              <a:rPr lang="en-US" sz="1150">
                <a:solidFill>
                  <a:srgbClr val="6B7280"/>
                </a:solidFill>
                <a:latin typeface="Google Sans"/>
              </a:rPr>
              <a:t>Rules, integrations, and workflow automation where certainty is enough.</a:t>
            </a:r>
            <a:endParaRPr lang="en-IN" sz="1150">
              <a:solidFill>
                <a:srgbClr val="6B7280"/>
              </a:solidFill>
              <a:latin typeface="Google Sans"/>
            </a:endParaRPr>
          </a:p>
        </p:txBody>
      </p:sp>
      <p:sp>
        <p:nvSpPr>
          <p:cNvPr id="20" name="Rectangle 19">
            <a:extLst>
              <a:ext uri="{FF2B5EF4-FFF2-40B4-BE49-F238E27FC236}">
                <a16:creationId xmlns:a16="http://schemas.microsoft.com/office/drawing/2014/main" id="{61AAFDB1-8C0A-28D1-8EA5-FC282B55E3E1}"/>
              </a:ext>
            </a:extLst>
          </p:cNvPr>
          <p:cNvSpPr/>
          <p:nvPr/>
        </p:nvSpPr>
        <p:spPr>
          <a:xfrm>
            <a:off x="6094730" y="2997200"/>
            <a:ext cx="127000" cy="127000"/>
          </a:xfrm>
          <a:prstGeom prst="rect">
            <a:avLst/>
          </a:prstGeom>
          <a:solidFill>
            <a:srgbClr val="1FA9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4059054B-181F-DEFE-A85B-B7D32E0A832E}"/>
              </a:ext>
            </a:extLst>
          </p:cNvPr>
          <p:cNvSpPr txBox="1"/>
          <p:nvPr/>
        </p:nvSpPr>
        <p:spPr>
          <a:xfrm>
            <a:off x="6323330" y="2870200"/>
            <a:ext cx="762000" cy="276999"/>
          </a:xfrm>
          <a:prstGeom prst="rect">
            <a:avLst/>
          </a:prstGeom>
          <a:noFill/>
        </p:spPr>
        <p:txBody>
          <a:bodyPr vert="horz" wrap="square" lIns="0" tIns="0" rIns="0" bIns="0" rtlCol="0">
            <a:noAutofit/>
          </a:bodyPr>
          <a:lstStyle/>
          <a:p>
            <a:r>
              <a:rPr lang="en-IN" sz="3000" b="1">
                <a:solidFill>
                  <a:srgbClr val="1FA98A"/>
                </a:solidFill>
                <a:latin typeface="Google Sans"/>
              </a:rPr>
              <a:t>03</a:t>
            </a:r>
          </a:p>
        </p:txBody>
      </p:sp>
      <p:sp>
        <p:nvSpPr>
          <p:cNvPr id="22" name="TextBox 21">
            <a:extLst>
              <a:ext uri="{FF2B5EF4-FFF2-40B4-BE49-F238E27FC236}">
                <a16:creationId xmlns:a16="http://schemas.microsoft.com/office/drawing/2014/main" id="{535AAF0B-E25F-CDC5-0FB1-5EAC7ED1514E}"/>
              </a:ext>
            </a:extLst>
          </p:cNvPr>
          <p:cNvSpPr txBox="1"/>
          <p:nvPr/>
        </p:nvSpPr>
        <p:spPr>
          <a:xfrm>
            <a:off x="6094730" y="3403600"/>
            <a:ext cx="2399665" cy="276999"/>
          </a:xfrm>
          <a:prstGeom prst="rect">
            <a:avLst/>
          </a:prstGeom>
          <a:noFill/>
        </p:spPr>
        <p:txBody>
          <a:bodyPr vert="horz" wrap="square" lIns="0" tIns="0" rIns="0" bIns="0" rtlCol="0">
            <a:noAutofit/>
          </a:bodyPr>
          <a:lstStyle/>
          <a:p>
            <a:r>
              <a:rPr lang="en-IN" sz="1500" b="1">
                <a:solidFill>
                  <a:srgbClr val="141414"/>
                </a:solidFill>
                <a:latin typeface="Google Sans"/>
              </a:rPr>
              <a:t>Apply AI</a:t>
            </a:r>
          </a:p>
        </p:txBody>
      </p:sp>
      <p:sp>
        <p:nvSpPr>
          <p:cNvPr id="23" name="TextBox 22">
            <a:extLst>
              <a:ext uri="{FF2B5EF4-FFF2-40B4-BE49-F238E27FC236}">
                <a16:creationId xmlns:a16="http://schemas.microsoft.com/office/drawing/2014/main" id="{5B072EA0-F040-EB49-E637-FF3CA73FBB6F}"/>
              </a:ext>
            </a:extLst>
          </p:cNvPr>
          <p:cNvSpPr txBox="1"/>
          <p:nvPr/>
        </p:nvSpPr>
        <p:spPr>
          <a:xfrm>
            <a:off x="6094730" y="3708400"/>
            <a:ext cx="2399665" cy="276999"/>
          </a:xfrm>
          <a:prstGeom prst="rect">
            <a:avLst/>
          </a:prstGeom>
          <a:noFill/>
        </p:spPr>
        <p:txBody>
          <a:bodyPr vert="horz" wrap="square" lIns="0" tIns="0" rIns="0" bIns="0" rtlCol="0">
            <a:noAutofit/>
          </a:bodyPr>
          <a:lstStyle/>
          <a:p>
            <a:r>
              <a:rPr lang="en-US" sz="1150">
                <a:solidFill>
                  <a:srgbClr val="6B7280"/>
                </a:solidFill>
                <a:latin typeface="Google Sans"/>
              </a:rPr>
              <a:t>Including agents, where judgment, language, and continuous operation pay.</a:t>
            </a:r>
            <a:endParaRPr lang="en-IN" sz="1150">
              <a:solidFill>
                <a:srgbClr val="6B7280"/>
              </a:solidFill>
              <a:latin typeface="Google Sans"/>
            </a:endParaRPr>
          </a:p>
        </p:txBody>
      </p:sp>
      <p:sp>
        <p:nvSpPr>
          <p:cNvPr id="24" name="Rectangle 23">
            <a:extLst>
              <a:ext uri="{FF2B5EF4-FFF2-40B4-BE49-F238E27FC236}">
                <a16:creationId xmlns:a16="http://schemas.microsoft.com/office/drawing/2014/main" id="{C4B69AB8-C4F1-21C9-802E-91D3070C4BFF}"/>
              </a:ext>
            </a:extLst>
          </p:cNvPr>
          <p:cNvSpPr/>
          <p:nvPr/>
        </p:nvSpPr>
        <p:spPr>
          <a:xfrm>
            <a:off x="8799195" y="29972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53405A4E-B4E9-BBC1-F275-2CC23B594BAB}"/>
              </a:ext>
            </a:extLst>
          </p:cNvPr>
          <p:cNvSpPr txBox="1"/>
          <p:nvPr/>
        </p:nvSpPr>
        <p:spPr>
          <a:xfrm>
            <a:off x="9027795" y="2870200"/>
            <a:ext cx="762000" cy="276999"/>
          </a:xfrm>
          <a:prstGeom prst="rect">
            <a:avLst/>
          </a:prstGeom>
          <a:noFill/>
        </p:spPr>
        <p:txBody>
          <a:bodyPr vert="horz" wrap="square" lIns="0" tIns="0" rIns="0" bIns="0" rtlCol="0">
            <a:noAutofit/>
          </a:bodyPr>
          <a:lstStyle/>
          <a:p>
            <a:r>
              <a:rPr lang="en-IN" sz="3000" b="1">
                <a:solidFill>
                  <a:srgbClr val="6870F8"/>
                </a:solidFill>
                <a:latin typeface="Google Sans"/>
              </a:rPr>
              <a:t>04</a:t>
            </a:r>
          </a:p>
        </p:txBody>
      </p:sp>
      <p:sp>
        <p:nvSpPr>
          <p:cNvPr id="26" name="TextBox 25">
            <a:extLst>
              <a:ext uri="{FF2B5EF4-FFF2-40B4-BE49-F238E27FC236}">
                <a16:creationId xmlns:a16="http://schemas.microsoft.com/office/drawing/2014/main" id="{4E45DC23-F3DF-3405-E966-8482C8DFBF83}"/>
              </a:ext>
            </a:extLst>
          </p:cNvPr>
          <p:cNvSpPr txBox="1"/>
          <p:nvPr/>
        </p:nvSpPr>
        <p:spPr>
          <a:xfrm>
            <a:off x="8799195" y="3403600"/>
            <a:ext cx="2399665" cy="276999"/>
          </a:xfrm>
          <a:prstGeom prst="rect">
            <a:avLst/>
          </a:prstGeom>
          <a:noFill/>
        </p:spPr>
        <p:txBody>
          <a:bodyPr vert="horz" wrap="square" lIns="0" tIns="0" rIns="0" bIns="0" rtlCol="0">
            <a:noAutofit/>
          </a:bodyPr>
          <a:lstStyle/>
          <a:p>
            <a:r>
              <a:rPr lang="en-IN" sz="1500" b="1">
                <a:solidFill>
                  <a:srgbClr val="141414"/>
                </a:solidFill>
                <a:latin typeface="Google Sans"/>
              </a:rPr>
              <a:t>Prioritize</a:t>
            </a:r>
          </a:p>
        </p:txBody>
      </p:sp>
      <p:sp>
        <p:nvSpPr>
          <p:cNvPr id="27" name="TextBox 26">
            <a:extLst>
              <a:ext uri="{FF2B5EF4-FFF2-40B4-BE49-F238E27FC236}">
                <a16:creationId xmlns:a16="http://schemas.microsoft.com/office/drawing/2014/main" id="{F71CA50D-9FC1-7012-80CA-5CC3FF5DFB52}"/>
              </a:ext>
            </a:extLst>
          </p:cNvPr>
          <p:cNvSpPr txBox="1"/>
          <p:nvPr/>
        </p:nvSpPr>
        <p:spPr>
          <a:xfrm>
            <a:off x="8799195" y="3708400"/>
            <a:ext cx="2399665" cy="276999"/>
          </a:xfrm>
          <a:prstGeom prst="rect">
            <a:avLst/>
          </a:prstGeom>
          <a:noFill/>
        </p:spPr>
        <p:txBody>
          <a:bodyPr vert="horz" wrap="square" lIns="0" tIns="0" rIns="0" bIns="0" rtlCol="0">
            <a:noAutofit/>
          </a:bodyPr>
          <a:lstStyle/>
          <a:p>
            <a:r>
              <a:rPr lang="en-US" sz="1150">
                <a:solidFill>
                  <a:srgbClr val="6B7280"/>
                </a:solidFill>
                <a:latin typeface="Google Sans"/>
              </a:rPr>
              <a:t>Costed, plotted on return vs effort, stack-ranked.</a:t>
            </a:r>
            <a:endParaRPr lang="en-IN" sz="1150">
              <a:solidFill>
                <a:srgbClr val="6B7280"/>
              </a:solidFill>
              <a:latin typeface="Google Sans"/>
            </a:endParaRPr>
          </a:p>
        </p:txBody>
      </p:sp>
      <p:cxnSp>
        <p:nvCxnSpPr>
          <p:cNvPr id="28" name="Straight Connector 27">
            <a:extLst>
              <a:ext uri="{FF2B5EF4-FFF2-40B4-BE49-F238E27FC236}">
                <a16:creationId xmlns:a16="http://schemas.microsoft.com/office/drawing/2014/main" id="{1B237340-60CA-8F8B-1044-B32D3FACDE52}"/>
              </a:ext>
            </a:extLst>
          </p:cNvPr>
          <p:cNvCxnSpPr/>
          <p:nvPr/>
        </p:nvCxnSpPr>
        <p:spPr>
          <a:xfrm>
            <a:off x="685800" y="4724400"/>
            <a:ext cx="10817860" cy="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79D02438-7DCB-A638-D016-52D1AEE8F73E}"/>
              </a:ext>
            </a:extLst>
          </p:cNvPr>
          <p:cNvSpPr txBox="1"/>
          <p:nvPr/>
        </p:nvSpPr>
        <p:spPr>
          <a:xfrm>
            <a:off x="685800" y="4953000"/>
            <a:ext cx="3810000" cy="184666"/>
          </a:xfrm>
          <a:prstGeom prst="rect">
            <a:avLst/>
          </a:prstGeom>
          <a:noFill/>
        </p:spPr>
        <p:txBody>
          <a:bodyPr vert="horz" wrap="square" lIns="0" tIns="0" rIns="0" bIns="0" rtlCol="0">
            <a:spAutoFit/>
          </a:bodyPr>
          <a:lstStyle/>
          <a:p>
            <a:r>
              <a:rPr lang="en-IN" sz="1200" b="1" spc="110">
                <a:solidFill>
                  <a:srgbClr val="424B5B"/>
                </a:solidFill>
                <a:latin typeface="Google Sans"/>
              </a:rPr>
              <a:t>WHAT IT IS</a:t>
            </a:r>
          </a:p>
        </p:txBody>
      </p:sp>
      <p:sp>
        <p:nvSpPr>
          <p:cNvPr id="30" name="TextBox 29">
            <a:extLst>
              <a:ext uri="{FF2B5EF4-FFF2-40B4-BE49-F238E27FC236}">
                <a16:creationId xmlns:a16="http://schemas.microsoft.com/office/drawing/2014/main" id="{CA630D9F-4066-8786-F0FF-011768BD01FA}"/>
              </a:ext>
            </a:extLst>
          </p:cNvPr>
          <p:cNvSpPr txBox="1"/>
          <p:nvPr/>
        </p:nvSpPr>
        <p:spPr>
          <a:xfrm>
            <a:off x="685800" y="5232400"/>
            <a:ext cx="5027930" cy="276999"/>
          </a:xfrm>
          <a:prstGeom prst="rect">
            <a:avLst/>
          </a:prstGeom>
          <a:noFill/>
        </p:spPr>
        <p:txBody>
          <a:bodyPr vert="horz" wrap="square" lIns="0" tIns="0" rIns="0" bIns="0" rtlCol="0">
            <a:noAutofit/>
          </a:bodyPr>
          <a:lstStyle/>
          <a:p>
            <a:r>
              <a:rPr lang="en-US" sz="1250">
                <a:solidFill>
                  <a:srgbClr val="6B7280"/>
                </a:solidFill>
                <a:latin typeface="Google Sans"/>
              </a:rPr>
              <a:t>A quantified operating plan.  A scored assessment and an opportunity portfolio on a return vs effort matrix.  A sequenced roadmap with a concrete first 90 days.</a:t>
            </a:r>
            <a:endParaRPr lang="en-IN" sz="1250">
              <a:solidFill>
                <a:srgbClr val="6B7280"/>
              </a:solidFill>
              <a:latin typeface="Google Sans"/>
            </a:endParaRPr>
          </a:p>
        </p:txBody>
      </p:sp>
      <p:cxnSp>
        <p:nvCxnSpPr>
          <p:cNvPr id="31" name="Straight Connector 30">
            <a:extLst>
              <a:ext uri="{FF2B5EF4-FFF2-40B4-BE49-F238E27FC236}">
                <a16:creationId xmlns:a16="http://schemas.microsoft.com/office/drawing/2014/main" id="{564D5410-9BE7-A6C4-49F3-CAD9BCEC5DC6}"/>
              </a:ext>
            </a:extLst>
          </p:cNvPr>
          <p:cNvCxnSpPr/>
          <p:nvPr/>
        </p:nvCxnSpPr>
        <p:spPr>
          <a:xfrm>
            <a:off x="6031230" y="4953000"/>
            <a:ext cx="0" cy="114300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522BD49-ECF9-02AA-E491-74B77781FB5A}"/>
              </a:ext>
            </a:extLst>
          </p:cNvPr>
          <p:cNvSpPr txBox="1"/>
          <p:nvPr/>
        </p:nvSpPr>
        <p:spPr>
          <a:xfrm>
            <a:off x="6412230" y="4953000"/>
            <a:ext cx="3810000" cy="184666"/>
          </a:xfrm>
          <a:prstGeom prst="rect">
            <a:avLst/>
          </a:prstGeom>
          <a:noFill/>
        </p:spPr>
        <p:txBody>
          <a:bodyPr vert="horz" wrap="square" lIns="0" tIns="0" rIns="0" bIns="0" rtlCol="0">
            <a:spAutoFit/>
          </a:bodyPr>
          <a:lstStyle/>
          <a:p>
            <a:r>
              <a:rPr lang="en-IN" sz="1200" b="1" spc="110">
                <a:solidFill>
                  <a:srgbClr val="424B5B"/>
                </a:solidFill>
                <a:latin typeface="Google Sans"/>
              </a:rPr>
              <a:t>WHAT IT IS NOT</a:t>
            </a:r>
          </a:p>
        </p:txBody>
      </p:sp>
      <p:sp>
        <p:nvSpPr>
          <p:cNvPr id="33" name="TextBox 32">
            <a:extLst>
              <a:ext uri="{FF2B5EF4-FFF2-40B4-BE49-F238E27FC236}">
                <a16:creationId xmlns:a16="http://schemas.microsoft.com/office/drawing/2014/main" id="{93C0D10B-0292-5AA1-A60A-A292707E0AF7}"/>
              </a:ext>
            </a:extLst>
          </p:cNvPr>
          <p:cNvSpPr txBox="1"/>
          <p:nvPr/>
        </p:nvSpPr>
        <p:spPr>
          <a:xfrm>
            <a:off x="6412230" y="5232400"/>
            <a:ext cx="5091430" cy="276999"/>
          </a:xfrm>
          <a:prstGeom prst="rect">
            <a:avLst/>
          </a:prstGeom>
          <a:noFill/>
        </p:spPr>
        <p:txBody>
          <a:bodyPr vert="horz" wrap="square" lIns="0" tIns="0" rIns="0" bIns="0" rtlCol="0">
            <a:noAutofit/>
          </a:bodyPr>
          <a:lstStyle/>
          <a:p>
            <a:r>
              <a:rPr lang="en-US" sz="1250">
                <a:solidFill>
                  <a:srgbClr val="6B7280"/>
                </a:solidFill>
                <a:latin typeface="Google Sans"/>
              </a:rPr>
              <a:t>A strategy deck.  A technology audit.  A staffing pitch.</a:t>
            </a:r>
            <a:endParaRPr lang="en-IN" sz="1250">
              <a:solidFill>
                <a:srgbClr val="6B7280"/>
              </a:solidFill>
              <a:latin typeface="Google Sans"/>
            </a:endParaRPr>
          </a:p>
        </p:txBody>
      </p:sp>
    </p:spTree>
    <p:extLst>
      <p:ext uri="{BB962C8B-B14F-4D97-AF65-F5344CB8AC3E}">
        <p14:creationId xmlns:p14="http://schemas.microsoft.com/office/powerpoint/2010/main" val="286052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4DCED7-6EE4-DB9F-0DFF-2638B937BFE8}"/>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23F16073-2099-A23A-133C-4F3855D301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1A55AE70-9CD8-8CD2-015B-0F6841DB12F5}"/>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sp>
        <p:nvSpPr>
          <p:cNvPr id="7" name="TextBox 6">
            <a:extLst>
              <a:ext uri="{FF2B5EF4-FFF2-40B4-BE49-F238E27FC236}">
                <a16:creationId xmlns:a16="http://schemas.microsoft.com/office/drawing/2014/main" id="{29EB992B-2222-8047-3A8E-B2FE6A3798D9}"/>
              </a:ext>
            </a:extLst>
          </p:cNvPr>
          <p:cNvSpPr txBox="1"/>
          <p:nvPr/>
        </p:nvSpPr>
        <p:spPr>
          <a:xfrm>
            <a:off x="685800" y="546100"/>
            <a:ext cx="5080000" cy="200055"/>
          </a:xfrm>
          <a:prstGeom prst="rect">
            <a:avLst/>
          </a:prstGeom>
          <a:noFill/>
        </p:spPr>
        <p:txBody>
          <a:bodyPr vert="horz" wrap="square" lIns="0" tIns="0" rIns="0" bIns="0" rtlCol="0">
            <a:spAutoFit/>
          </a:bodyPr>
          <a:lstStyle/>
          <a:p>
            <a:r>
              <a:rPr lang="en-IN" sz="1300" b="1" spc="110">
                <a:solidFill>
                  <a:srgbClr val="141414"/>
                </a:solidFill>
                <a:latin typeface="Google Sans"/>
              </a:rPr>
              <a:t>SELLING IT</a:t>
            </a:r>
          </a:p>
        </p:txBody>
      </p:sp>
      <p:sp>
        <p:nvSpPr>
          <p:cNvPr id="8" name="TextBox 7">
            <a:extLst>
              <a:ext uri="{FF2B5EF4-FFF2-40B4-BE49-F238E27FC236}">
                <a16:creationId xmlns:a16="http://schemas.microsoft.com/office/drawing/2014/main" id="{804AD2F7-AC09-3D3D-616D-2E894529E91D}"/>
              </a:ext>
            </a:extLst>
          </p:cNvPr>
          <p:cNvSpPr txBox="1"/>
          <p:nvPr/>
        </p:nvSpPr>
        <p:spPr>
          <a:xfrm>
            <a:off x="7846060" y="56642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04  /  07</a:t>
            </a:r>
          </a:p>
        </p:txBody>
      </p:sp>
      <p:sp>
        <p:nvSpPr>
          <p:cNvPr id="9" name="TextBox 8">
            <a:extLst>
              <a:ext uri="{FF2B5EF4-FFF2-40B4-BE49-F238E27FC236}">
                <a16:creationId xmlns:a16="http://schemas.microsoft.com/office/drawing/2014/main" id="{7C90F546-B6C8-D85F-EF8E-E5FD66197751}"/>
              </a:ext>
            </a:extLst>
          </p:cNvPr>
          <p:cNvSpPr txBox="1"/>
          <p:nvPr/>
        </p:nvSpPr>
        <p:spPr>
          <a:xfrm>
            <a:off x="685800" y="1117600"/>
            <a:ext cx="10414000" cy="276999"/>
          </a:xfrm>
          <a:prstGeom prst="rect">
            <a:avLst/>
          </a:prstGeom>
          <a:noFill/>
        </p:spPr>
        <p:txBody>
          <a:bodyPr vert="horz" wrap="square" lIns="0" tIns="0" rIns="0" bIns="0" rtlCol="0">
            <a:noAutofit/>
          </a:bodyPr>
          <a:lstStyle/>
          <a:p>
            <a:r>
              <a:rPr lang="en-US" sz="3400" b="1">
                <a:solidFill>
                  <a:srgbClr val="141414"/>
                </a:solidFill>
                <a:latin typeface="Google Sans"/>
              </a:rPr>
              <a:t>What the seller walks in with.</a:t>
            </a:r>
            <a:endParaRPr lang="en-IN" sz="3400" b="1">
              <a:solidFill>
                <a:srgbClr val="141414"/>
              </a:solidFill>
              <a:latin typeface="Google Sans"/>
            </a:endParaRPr>
          </a:p>
        </p:txBody>
      </p:sp>
      <p:sp>
        <p:nvSpPr>
          <p:cNvPr id="10" name="TextBox 9">
            <a:extLst>
              <a:ext uri="{FF2B5EF4-FFF2-40B4-BE49-F238E27FC236}">
                <a16:creationId xmlns:a16="http://schemas.microsoft.com/office/drawing/2014/main" id="{B235659A-0052-25D8-DEC0-B607033559B2}"/>
              </a:ext>
            </a:extLst>
          </p:cNvPr>
          <p:cNvSpPr txBox="1"/>
          <p:nvPr/>
        </p:nvSpPr>
        <p:spPr>
          <a:xfrm>
            <a:off x="685800" y="2032000"/>
            <a:ext cx="1270000" cy="276999"/>
          </a:xfrm>
          <a:prstGeom prst="rect">
            <a:avLst/>
          </a:prstGeom>
          <a:noFill/>
        </p:spPr>
        <p:txBody>
          <a:bodyPr vert="horz" wrap="square" lIns="0" tIns="0" rIns="0" bIns="0" rtlCol="0">
            <a:noAutofit/>
          </a:bodyPr>
          <a:lstStyle/>
          <a:p>
            <a:r>
              <a:rPr lang="en-IN" sz="3800" b="1">
                <a:solidFill>
                  <a:srgbClr val="6870F8"/>
                </a:solidFill>
                <a:latin typeface="Google Sans"/>
              </a:rPr>
              <a:t>01</a:t>
            </a:r>
          </a:p>
        </p:txBody>
      </p:sp>
      <p:sp>
        <p:nvSpPr>
          <p:cNvPr id="11" name="TextBox 10">
            <a:extLst>
              <a:ext uri="{FF2B5EF4-FFF2-40B4-BE49-F238E27FC236}">
                <a16:creationId xmlns:a16="http://schemas.microsoft.com/office/drawing/2014/main" id="{A287D235-9EE6-E9A8-8CED-93E259E43B96}"/>
              </a:ext>
            </a:extLst>
          </p:cNvPr>
          <p:cNvSpPr txBox="1"/>
          <p:nvPr/>
        </p:nvSpPr>
        <p:spPr>
          <a:xfrm>
            <a:off x="685800" y="2717800"/>
            <a:ext cx="3148753" cy="276999"/>
          </a:xfrm>
          <a:prstGeom prst="rect">
            <a:avLst/>
          </a:prstGeom>
          <a:noFill/>
        </p:spPr>
        <p:txBody>
          <a:bodyPr vert="horz" wrap="square" lIns="0" tIns="0" rIns="0" bIns="0" rtlCol="0">
            <a:noAutofit/>
          </a:bodyPr>
          <a:lstStyle/>
          <a:p>
            <a:r>
              <a:rPr lang="en-IN" sz="1900" b="1">
                <a:solidFill>
                  <a:srgbClr val="141414"/>
                </a:solidFill>
                <a:latin typeface="Google Sans"/>
              </a:rPr>
              <a:t>The offer card</a:t>
            </a:r>
          </a:p>
        </p:txBody>
      </p:sp>
      <p:sp>
        <p:nvSpPr>
          <p:cNvPr id="12" name="TextBox 11">
            <a:extLst>
              <a:ext uri="{FF2B5EF4-FFF2-40B4-BE49-F238E27FC236}">
                <a16:creationId xmlns:a16="http://schemas.microsoft.com/office/drawing/2014/main" id="{F1797433-9926-F8F8-1596-4443086D2A16}"/>
              </a:ext>
            </a:extLst>
          </p:cNvPr>
          <p:cNvSpPr txBox="1"/>
          <p:nvPr/>
        </p:nvSpPr>
        <p:spPr>
          <a:xfrm>
            <a:off x="685800" y="3327400"/>
            <a:ext cx="3148753" cy="276999"/>
          </a:xfrm>
          <a:prstGeom prst="rect">
            <a:avLst/>
          </a:prstGeom>
          <a:noFill/>
        </p:spPr>
        <p:txBody>
          <a:bodyPr vert="horz" wrap="square" lIns="0" tIns="0" rIns="0" bIns="0" rtlCol="0">
            <a:noAutofit/>
          </a:bodyPr>
          <a:lstStyle/>
          <a:p>
            <a:r>
              <a:rPr lang="en-US" sz="1250">
                <a:solidFill>
                  <a:srgbClr val="6B7280"/>
                </a:solidFill>
                <a:latin typeface="Google Sans"/>
              </a:rPr>
              <a:t>Six to eight weeks, fixed fee. Deliverables by name: readiness scorecard, opportunity portfolio on the return vs effort matrix, initiative outlines with build / buy / partner options, first-90-days plan, executive readout.</a:t>
            </a:r>
            <a:endParaRPr lang="en-IN" sz="1250">
              <a:solidFill>
                <a:srgbClr val="6B7280"/>
              </a:solidFill>
              <a:latin typeface="Google Sans"/>
            </a:endParaRPr>
          </a:p>
        </p:txBody>
      </p:sp>
      <p:cxnSp>
        <p:nvCxnSpPr>
          <p:cNvPr id="13" name="Straight Connector 12">
            <a:extLst>
              <a:ext uri="{FF2B5EF4-FFF2-40B4-BE49-F238E27FC236}">
                <a16:creationId xmlns:a16="http://schemas.microsoft.com/office/drawing/2014/main" id="{64772C81-D23E-655B-3A2E-389CB0FAC547}"/>
              </a:ext>
            </a:extLst>
          </p:cNvPr>
          <p:cNvCxnSpPr/>
          <p:nvPr/>
        </p:nvCxnSpPr>
        <p:spPr>
          <a:xfrm>
            <a:off x="4063153" y="2032000"/>
            <a:ext cx="0" cy="381000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C885822-5022-E72B-D151-1C330AE582FD}"/>
              </a:ext>
            </a:extLst>
          </p:cNvPr>
          <p:cNvSpPr txBox="1"/>
          <p:nvPr/>
        </p:nvSpPr>
        <p:spPr>
          <a:xfrm>
            <a:off x="4291753" y="2032000"/>
            <a:ext cx="1270000" cy="276999"/>
          </a:xfrm>
          <a:prstGeom prst="rect">
            <a:avLst/>
          </a:prstGeom>
          <a:noFill/>
        </p:spPr>
        <p:txBody>
          <a:bodyPr vert="horz" wrap="square" lIns="0" tIns="0" rIns="0" bIns="0" rtlCol="0">
            <a:noAutofit/>
          </a:bodyPr>
          <a:lstStyle/>
          <a:p>
            <a:r>
              <a:rPr lang="en-IN" sz="3800" b="1">
                <a:solidFill>
                  <a:srgbClr val="E3A03C"/>
                </a:solidFill>
                <a:latin typeface="Google Sans"/>
              </a:rPr>
              <a:t>02</a:t>
            </a:r>
          </a:p>
        </p:txBody>
      </p:sp>
      <p:sp>
        <p:nvSpPr>
          <p:cNvPr id="15" name="TextBox 14">
            <a:extLst>
              <a:ext uri="{FF2B5EF4-FFF2-40B4-BE49-F238E27FC236}">
                <a16:creationId xmlns:a16="http://schemas.microsoft.com/office/drawing/2014/main" id="{F5F1B69D-F8D5-3AF5-755F-B63A7196F0EA}"/>
              </a:ext>
            </a:extLst>
          </p:cNvPr>
          <p:cNvSpPr txBox="1"/>
          <p:nvPr/>
        </p:nvSpPr>
        <p:spPr>
          <a:xfrm>
            <a:off x="4291753" y="2717800"/>
            <a:ext cx="3148753" cy="276999"/>
          </a:xfrm>
          <a:prstGeom prst="rect">
            <a:avLst/>
          </a:prstGeom>
          <a:noFill/>
        </p:spPr>
        <p:txBody>
          <a:bodyPr vert="horz" wrap="square" lIns="0" tIns="0" rIns="0" bIns="0" rtlCol="0">
            <a:noAutofit/>
          </a:bodyPr>
          <a:lstStyle/>
          <a:p>
            <a:r>
              <a:rPr lang="en-IN" sz="1900" b="1">
                <a:solidFill>
                  <a:srgbClr val="141414"/>
                </a:solidFill>
                <a:latin typeface="Google Sans"/>
              </a:rPr>
              <a:t>The sample report</a:t>
            </a:r>
          </a:p>
        </p:txBody>
      </p:sp>
      <p:sp>
        <p:nvSpPr>
          <p:cNvPr id="16" name="TextBox 15">
            <a:extLst>
              <a:ext uri="{FF2B5EF4-FFF2-40B4-BE49-F238E27FC236}">
                <a16:creationId xmlns:a16="http://schemas.microsoft.com/office/drawing/2014/main" id="{4A8AAE80-7C9E-B902-9AA3-F0FF67717F5C}"/>
              </a:ext>
            </a:extLst>
          </p:cNvPr>
          <p:cNvSpPr txBox="1"/>
          <p:nvPr/>
        </p:nvSpPr>
        <p:spPr>
          <a:xfrm>
            <a:off x="4291753" y="3327400"/>
            <a:ext cx="3148753" cy="276999"/>
          </a:xfrm>
          <a:prstGeom prst="rect">
            <a:avLst/>
          </a:prstGeom>
          <a:noFill/>
        </p:spPr>
        <p:txBody>
          <a:bodyPr vert="horz" wrap="square" lIns="0" tIns="0" rIns="0" bIns="0" rtlCol="0">
            <a:noAutofit/>
          </a:bodyPr>
          <a:lstStyle/>
          <a:p>
            <a:r>
              <a:rPr lang="en-US" sz="1250">
                <a:solidFill>
                  <a:srgbClr val="6B7280"/>
                </a:solidFill>
                <a:latin typeface="Google Sans"/>
              </a:rPr>
              <a:t>An assessment report built from real Techjays engagements: actual process maps, target designs, and roadmaps with client identifiers removed. Answers the “show me what I get” buyer. Next collateral investment.</a:t>
            </a:r>
            <a:endParaRPr lang="en-IN" sz="1250">
              <a:solidFill>
                <a:srgbClr val="6B7280"/>
              </a:solidFill>
              <a:latin typeface="Google Sans"/>
            </a:endParaRPr>
          </a:p>
        </p:txBody>
      </p:sp>
      <p:cxnSp>
        <p:nvCxnSpPr>
          <p:cNvPr id="17" name="Straight Connector 16">
            <a:extLst>
              <a:ext uri="{FF2B5EF4-FFF2-40B4-BE49-F238E27FC236}">
                <a16:creationId xmlns:a16="http://schemas.microsoft.com/office/drawing/2014/main" id="{E80FA3EF-A85E-3721-B6F3-3F8F36CDB439}"/>
              </a:ext>
            </a:extLst>
          </p:cNvPr>
          <p:cNvCxnSpPr/>
          <p:nvPr/>
        </p:nvCxnSpPr>
        <p:spPr>
          <a:xfrm>
            <a:off x="7669106" y="2032000"/>
            <a:ext cx="0" cy="381000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F7DE478-E444-588A-032C-648458B731D4}"/>
              </a:ext>
            </a:extLst>
          </p:cNvPr>
          <p:cNvSpPr txBox="1"/>
          <p:nvPr/>
        </p:nvSpPr>
        <p:spPr>
          <a:xfrm>
            <a:off x="7897706" y="2032000"/>
            <a:ext cx="1270000" cy="276999"/>
          </a:xfrm>
          <a:prstGeom prst="rect">
            <a:avLst/>
          </a:prstGeom>
          <a:noFill/>
        </p:spPr>
        <p:txBody>
          <a:bodyPr vert="horz" wrap="square" lIns="0" tIns="0" rIns="0" bIns="0" rtlCol="0">
            <a:noAutofit/>
          </a:bodyPr>
          <a:lstStyle/>
          <a:p>
            <a:r>
              <a:rPr lang="en-IN" sz="3800" b="1">
                <a:solidFill>
                  <a:srgbClr val="1FA98A"/>
                </a:solidFill>
                <a:latin typeface="Google Sans"/>
              </a:rPr>
              <a:t>03</a:t>
            </a:r>
          </a:p>
        </p:txBody>
      </p:sp>
      <p:sp>
        <p:nvSpPr>
          <p:cNvPr id="19" name="TextBox 18">
            <a:extLst>
              <a:ext uri="{FF2B5EF4-FFF2-40B4-BE49-F238E27FC236}">
                <a16:creationId xmlns:a16="http://schemas.microsoft.com/office/drawing/2014/main" id="{9AAF76C5-CCF4-D827-7BF3-0D34DDFFB346}"/>
              </a:ext>
            </a:extLst>
          </p:cNvPr>
          <p:cNvSpPr txBox="1"/>
          <p:nvPr/>
        </p:nvSpPr>
        <p:spPr>
          <a:xfrm>
            <a:off x="7897706" y="2717800"/>
            <a:ext cx="3148753" cy="276999"/>
          </a:xfrm>
          <a:prstGeom prst="rect">
            <a:avLst/>
          </a:prstGeom>
          <a:noFill/>
        </p:spPr>
        <p:txBody>
          <a:bodyPr vert="horz" wrap="square" lIns="0" tIns="0" rIns="0" bIns="0" rtlCol="0">
            <a:noAutofit/>
          </a:bodyPr>
          <a:lstStyle/>
          <a:p>
            <a:r>
              <a:rPr lang="en-IN" sz="1900" b="1">
                <a:solidFill>
                  <a:srgbClr val="141414"/>
                </a:solidFill>
                <a:latin typeface="Google Sans"/>
              </a:rPr>
              <a:t>The qualification profile</a:t>
            </a:r>
          </a:p>
        </p:txBody>
      </p:sp>
      <p:sp>
        <p:nvSpPr>
          <p:cNvPr id="20" name="TextBox 19">
            <a:extLst>
              <a:ext uri="{FF2B5EF4-FFF2-40B4-BE49-F238E27FC236}">
                <a16:creationId xmlns:a16="http://schemas.microsoft.com/office/drawing/2014/main" id="{A97C88DC-B6C9-83FE-6DEE-2B89600FD95E}"/>
              </a:ext>
            </a:extLst>
          </p:cNvPr>
          <p:cNvSpPr txBox="1"/>
          <p:nvPr/>
        </p:nvSpPr>
        <p:spPr>
          <a:xfrm>
            <a:off x="7897706" y="3327400"/>
            <a:ext cx="3148753" cy="276999"/>
          </a:xfrm>
          <a:prstGeom prst="rect">
            <a:avLst/>
          </a:prstGeom>
          <a:noFill/>
        </p:spPr>
        <p:txBody>
          <a:bodyPr vert="horz" wrap="square" lIns="0" tIns="0" rIns="0" bIns="0" rtlCol="0">
            <a:noAutofit/>
          </a:bodyPr>
          <a:lstStyle/>
          <a:p>
            <a:r>
              <a:rPr lang="en-US" sz="1250">
                <a:solidFill>
                  <a:srgbClr val="6B7280"/>
                </a:solidFill>
                <a:latin typeface="Google Sans"/>
              </a:rPr>
              <a:t>Mid-market, roughly 100 to 500 employees. Operations- or GTM-heavy. Board or CEO pressure on AI. Pilots that have not moved the P&amp;L.</a:t>
            </a:r>
            <a:endParaRPr lang="en-IN" sz="1250">
              <a:solidFill>
                <a:srgbClr val="6B7280"/>
              </a:solidFill>
              <a:latin typeface="Google Sans"/>
            </a:endParaRPr>
          </a:p>
        </p:txBody>
      </p:sp>
    </p:spTree>
    <p:extLst>
      <p:ext uri="{BB962C8B-B14F-4D97-AF65-F5344CB8AC3E}">
        <p14:creationId xmlns:p14="http://schemas.microsoft.com/office/powerpoint/2010/main" val="59194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42C8AD-8A03-9A60-496F-A579A2FEDC1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669BE6ED-6604-0B06-5D13-75CAF294FC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25CAC762-02FF-51B3-DB26-B395798606A8}"/>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sp>
        <p:nvSpPr>
          <p:cNvPr id="7" name="TextBox 6">
            <a:extLst>
              <a:ext uri="{FF2B5EF4-FFF2-40B4-BE49-F238E27FC236}">
                <a16:creationId xmlns:a16="http://schemas.microsoft.com/office/drawing/2014/main" id="{05D7EF8C-DA6E-5DE3-C349-8B1119143958}"/>
              </a:ext>
            </a:extLst>
          </p:cNvPr>
          <p:cNvSpPr txBox="1"/>
          <p:nvPr/>
        </p:nvSpPr>
        <p:spPr>
          <a:xfrm>
            <a:off x="685800" y="546100"/>
            <a:ext cx="5080000" cy="200055"/>
          </a:xfrm>
          <a:prstGeom prst="rect">
            <a:avLst/>
          </a:prstGeom>
          <a:noFill/>
        </p:spPr>
        <p:txBody>
          <a:bodyPr vert="horz" wrap="square" lIns="0" tIns="0" rIns="0" bIns="0" rtlCol="0">
            <a:spAutoFit/>
          </a:bodyPr>
          <a:lstStyle/>
          <a:p>
            <a:r>
              <a:rPr lang="en-IN" sz="1300" b="1" spc="110">
                <a:solidFill>
                  <a:srgbClr val="141414"/>
                </a:solidFill>
                <a:latin typeface="Google Sans"/>
              </a:rPr>
              <a:t>SELLING IT</a:t>
            </a:r>
          </a:p>
        </p:txBody>
      </p:sp>
      <p:sp>
        <p:nvSpPr>
          <p:cNvPr id="8" name="TextBox 7">
            <a:extLst>
              <a:ext uri="{FF2B5EF4-FFF2-40B4-BE49-F238E27FC236}">
                <a16:creationId xmlns:a16="http://schemas.microsoft.com/office/drawing/2014/main" id="{2B0A0612-C817-8891-48C5-423D7F234215}"/>
              </a:ext>
            </a:extLst>
          </p:cNvPr>
          <p:cNvSpPr txBox="1"/>
          <p:nvPr/>
        </p:nvSpPr>
        <p:spPr>
          <a:xfrm>
            <a:off x="7846060" y="56642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05  /  07</a:t>
            </a:r>
          </a:p>
        </p:txBody>
      </p:sp>
      <p:sp>
        <p:nvSpPr>
          <p:cNvPr id="9" name="TextBox 8">
            <a:extLst>
              <a:ext uri="{FF2B5EF4-FFF2-40B4-BE49-F238E27FC236}">
                <a16:creationId xmlns:a16="http://schemas.microsoft.com/office/drawing/2014/main" id="{C6824906-5706-E94C-A1F3-1433FFE35F6F}"/>
              </a:ext>
            </a:extLst>
          </p:cNvPr>
          <p:cNvSpPr txBox="1"/>
          <p:nvPr/>
        </p:nvSpPr>
        <p:spPr>
          <a:xfrm>
            <a:off x="685800" y="1117600"/>
            <a:ext cx="10414000" cy="276999"/>
          </a:xfrm>
          <a:prstGeom prst="rect">
            <a:avLst/>
          </a:prstGeom>
          <a:noFill/>
        </p:spPr>
        <p:txBody>
          <a:bodyPr vert="horz" wrap="square" lIns="0" tIns="0" rIns="0" bIns="0" rtlCol="0">
            <a:noAutofit/>
          </a:bodyPr>
          <a:lstStyle/>
          <a:p>
            <a:r>
              <a:rPr lang="en-US" sz="2600" b="1">
                <a:solidFill>
                  <a:srgbClr val="141414"/>
                </a:solidFill>
                <a:latin typeface="Google Sans"/>
              </a:rPr>
              <a:t>Three questions that open the door. Four answers that keep it open.</a:t>
            </a:r>
            <a:endParaRPr lang="en-IN" sz="2600" b="1">
              <a:solidFill>
                <a:srgbClr val="141414"/>
              </a:solidFill>
              <a:latin typeface="Google Sans"/>
            </a:endParaRPr>
          </a:p>
        </p:txBody>
      </p:sp>
      <p:sp>
        <p:nvSpPr>
          <p:cNvPr id="10" name="TextBox 9">
            <a:extLst>
              <a:ext uri="{FF2B5EF4-FFF2-40B4-BE49-F238E27FC236}">
                <a16:creationId xmlns:a16="http://schemas.microsoft.com/office/drawing/2014/main" id="{7CAD7F23-1852-C176-0DC7-F31898FE31F2}"/>
              </a:ext>
            </a:extLst>
          </p:cNvPr>
          <p:cNvSpPr txBox="1"/>
          <p:nvPr/>
        </p:nvSpPr>
        <p:spPr>
          <a:xfrm>
            <a:off x="685800" y="1930400"/>
            <a:ext cx="508000" cy="276999"/>
          </a:xfrm>
          <a:prstGeom prst="rect">
            <a:avLst/>
          </a:prstGeom>
          <a:noFill/>
        </p:spPr>
        <p:txBody>
          <a:bodyPr vert="horz" wrap="square" lIns="0" tIns="0" rIns="0" bIns="0" rtlCol="0">
            <a:noAutofit/>
          </a:bodyPr>
          <a:lstStyle/>
          <a:p>
            <a:r>
              <a:rPr lang="en-IN" sz="2000" b="1">
                <a:solidFill>
                  <a:srgbClr val="6870F8"/>
                </a:solidFill>
                <a:latin typeface="Google Sans"/>
              </a:rPr>
              <a:t>1.</a:t>
            </a:r>
          </a:p>
        </p:txBody>
      </p:sp>
      <p:sp>
        <p:nvSpPr>
          <p:cNvPr id="11" name="TextBox 10">
            <a:extLst>
              <a:ext uri="{FF2B5EF4-FFF2-40B4-BE49-F238E27FC236}">
                <a16:creationId xmlns:a16="http://schemas.microsoft.com/office/drawing/2014/main" id="{AAB9A381-7374-5EEA-B8F5-99F499B8A7B3}"/>
              </a:ext>
            </a:extLst>
          </p:cNvPr>
          <p:cNvSpPr txBox="1"/>
          <p:nvPr/>
        </p:nvSpPr>
        <p:spPr>
          <a:xfrm>
            <a:off x="1066800" y="1981200"/>
            <a:ext cx="2843953" cy="276999"/>
          </a:xfrm>
          <a:prstGeom prst="rect">
            <a:avLst/>
          </a:prstGeom>
          <a:noFill/>
        </p:spPr>
        <p:txBody>
          <a:bodyPr vert="horz" wrap="square" lIns="0" tIns="0" rIns="0" bIns="0" rtlCol="0">
            <a:noAutofit/>
          </a:bodyPr>
          <a:lstStyle/>
          <a:p>
            <a:r>
              <a:rPr lang="en-US" sz="1250">
                <a:solidFill>
                  <a:srgbClr val="141414"/>
                </a:solidFill>
                <a:latin typeface="Google Sans"/>
              </a:rPr>
              <a:t>What did your last AI pilot change in the P&amp;L?</a:t>
            </a:r>
            <a:endParaRPr lang="en-IN" sz="1250">
              <a:solidFill>
                <a:srgbClr val="141414"/>
              </a:solidFill>
              <a:latin typeface="Google Sans"/>
            </a:endParaRPr>
          </a:p>
        </p:txBody>
      </p:sp>
      <p:sp>
        <p:nvSpPr>
          <p:cNvPr id="12" name="TextBox 11">
            <a:extLst>
              <a:ext uri="{FF2B5EF4-FFF2-40B4-BE49-F238E27FC236}">
                <a16:creationId xmlns:a16="http://schemas.microsoft.com/office/drawing/2014/main" id="{7A3C11FD-7FEF-5932-38F7-F26987FCDE23}"/>
              </a:ext>
            </a:extLst>
          </p:cNvPr>
          <p:cNvSpPr txBox="1"/>
          <p:nvPr/>
        </p:nvSpPr>
        <p:spPr>
          <a:xfrm>
            <a:off x="4291753" y="1930400"/>
            <a:ext cx="508000" cy="276999"/>
          </a:xfrm>
          <a:prstGeom prst="rect">
            <a:avLst/>
          </a:prstGeom>
          <a:noFill/>
        </p:spPr>
        <p:txBody>
          <a:bodyPr vert="horz" wrap="square" lIns="0" tIns="0" rIns="0" bIns="0" rtlCol="0">
            <a:noAutofit/>
          </a:bodyPr>
          <a:lstStyle/>
          <a:p>
            <a:r>
              <a:rPr lang="en-IN" sz="2000" b="1">
                <a:solidFill>
                  <a:srgbClr val="E3A03C"/>
                </a:solidFill>
                <a:latin typeface="Google Sans"/>
              </a:rPr>
              <a:t>2.</a:t>
            </a:r>
          </a:p>
        </p:txBody>
      </p:sp>
      <p:sp>
        <p:nvSpPr>
          <p:cNvPr id="13" name="TextBox 12">
            <a:extLst>
              <a:ext uri="{FF2B5EF4-FFF2-40B4-BE49-F238E27FC236}">
                <a16:creationId xmlns:a16="http://schemas.microsoft.com/office/drawing/2014/main" id="{8407038B-546C-9659-A9D9-E51E6D89B009}"/>
              </a:ext>
            </a:extLst>
          </p:cNvPr>
          <p:cNvSpPr txBox="1"/>
          <p:nvPr/>
        </p:nvSpPr>
        <p:spPr>
          <a:xfrm>
            <a:off x="4672753" y="1981200"/>
            <a:ext cx="2843953" cy="276999"/>
          </a:xfrm>
          <a:prstGeom prst="rect">
            <a:avLst/>
          </a:prstGeom>
          <a:noFill/>
        </p:spPr>
        <p:txBody>
          <a:bodyPr vert="horz" wrap="square" lIns="0" tIns="0" rIns="0" bIns="0" rtlCol="0">
            <a:noAutofit/>
          </a:bodyPr>
          <a:lstStyle/>
          <a:p>
            <a:r>
              <a:rPr lang="en-US" sz="1250">
                <a:solidFill>
                  <a:srgbClr val="141414"/>
                </a:solidFill>
                <a:latin typeface="Google Sans"/>
              </a:rPr>
              <a:t>If your team doubled tomorrow at the same cost, where would you point it?</a:t>
            </a:r>
            <a:endParaRPr lang="en-IN" sz="1250">
              <a:solidFill>
                <a:srgbClr val="141414"/>
              </a:solidFill>
              <a:latin typeface="Google Sans"/>
            </a:endParaRPr>
          </a:p>
        </p:txBody>
      </p:sp>
      <p:sp>
        <p:nvSpPr>
          <p:cNvPr id="14" name="TextBox 13">
            <a:extLst>
              <a:ext uri="{FF2B5EF4-FFF2-40B4-BE49-F238E27FC236}">
                <a16:creationId xmlns:a16="http://schemas.microsoft.com/office/drawing/2014/main" id="{FDD1D3B6-4A9C-F243-A03E-E6D7D33FE131}"/>
              </a:ext>
            </a:extLst>
          </p:cNvPr>
          <p:cNvSpPr txBox="1"/>
          <p:nvPr/>
        </p:nvSpPr>
        <p:spPr>
          <a:xfrm>
            <a:off x="7897706" y="1930400"/>
            <a:ext cx="508000" cy="276999"/>
          </a:xfrm>
          <a:prstGeom prst="rect">
            <a:avLst/>
          </a:prstGeom>
          <a:noFill/>
        </p:spPr>
        <p:txBody>
          <a:bodyPr vert="horz" wrap="square" lIns="0" tIns="0" rIns="0" bIns="0" rtlCol="0">
            <a:noAutofit/>
          </a:bodyPr>
          <a:lstStyle/>
          <a:p>
            <a:r>
              <a:rPr lang="en-IN" sz="2000" b="1">
                <a:solidFill>
                  <a:srgbClr val="1FA98A"/>
                </a:solidFill>
                <a:latin typeface="Google Sans"/>
              </a:rPr>
              <a:t>3.</a:t>
            </a:r>
          </a:p>
        </p:txBody>
      </p:sp>
      <p:sp>
        <p:nvSpPr>
          <p:cNvPr id="15" name="TextBox 14">
            <a:extLst>
              <a:ext uri="{FF2B5EF4-FFF2-40B4-BE49-F238E27FC236}">
                <a16:creationId xmlns:a16="http://schemas.microsoft.com/office/drawing/2014/main" id="{FAE3AB5D-F57E-4C5B-063E-36604676B603}"/>
              </a:ext>
            </a:extLst>
          </p:cNvPr>
          <p:cNvSpPr txBox="1"/>
          <p:nvPr/>
        </p:nvSpPr>
        <p:spPr>
          <a:xfrm>
            <a:off x="8278706" y="1981200"/>
            <a:ext cx="2843953" cy="276999"/>
          </a:xfrm>
          <a:prstGeom prst="rect">
            <a:avLst/>
          </a:prstGeom>
          <a:noFill/>
        </p:spPr>
        <p:txBody>
          <a:bodyPr vert="horz" wrap="square" lIns="0" tIns="0" rIns="0" bIns="0" rtlCol="0">
            <a:noAutofit/>
          </a:bodyPr>
          <a:lstStyle/>
          <a:p>
            <a:r>
              <a:rPr lang="en-US" sz="1250">
                <a:solidFill>
                  <a:srgbClr val="141414"/>
                </a:solidFill>
                <a:latin typeface="Google Sans"/>
              </a:rPr>
              <a:t>Who in your company can draw how a customer order actually flows, end to end?</a:t>
            </a:r>
            <a:endParaRPr lang="en-IN" sz="1250">
              <a:solidFill>
                <a:srgbClr val="141414"/>
              </a:solidFill>
              <a:latin typeface="Google Sans"/>
            </a:endParaRPr>
          </a:p>
        </p:txBody>
      </p:sp>
      <p:cxnSp>
        <p:nvCxnSpPr>
          <p:cNvPr id="16" name="Straight Connector 15">
            <a:extLst>
              <a:ext uri="{FF2B5EF4-FFF2-40B4-BE49-F238E27FC236}">
                <a16:creationId xmlns:a16="http://schemas.microsoft.com/office/drawing/2014/main" id="{98DF3F49-815F-23F0-4502-33423D8BCA16}"/>
              </a:ext>
            </a:extLst>
          </p:cNvPr>
          <p:cNvCxnSpPr/>
          <p:nvPr/>
        </p:nvCxnSpPr>
        <p:spPr>
          <a:xfrm>
            <a:off x="685800" y="3124200"/>
            <a:ext cx="10817860" cy="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BCCF3B2-5019-D0D3-DE52-AB8ED7A922FA}"/>
              </a:ext>
            </a:extLst>
          </p:cNvPr>
          <p:cNvSpPr txBox="1"/>
          <p:nvPr/>
        </p:nvSpPr>
        <p:spPr>
          <a:xfrm>
            <a:off x="685800" y="3327400"/>
            <a:ext cx="5080000" cy="184666"/>
          </a:xfrm>
          <a:prstGeom prst="rect">
            <a:avLst/>
          </a:prstGeom>
          <a:noFill/>
        </p:spPr>
        <p:txBody>
          <a:bodyPr vert="horz" wrap="square" lIns="0" tIns="0" rIns="0" bIns="0" rtlCol="0">
            <a:spAutoFit/>
          </a:bodyPr>
          <a:lstStyle/>
          <a:p>
            <a:r>
              <a:rPr lang="en-IN" sz="1200" b="1" spc="110">
                <a:solidFill>
                  <a:srgbClr val="424B5B"/>
                </a:solidFill>
                <a:latin typeface="Google Sans"/>
              </a:rPr>
              <a:t>THE OBJECTIONS, ANSWERED</a:t>
            </a:r>
          </a:p>
        </p:txBody>
      </p:sp>
      <p:sp>
        <p:nvSpPr>
          <p:cNvPr id="18" name="Rectangle 17">
            <a:extLst>
              <a:ext uri="{FF2B5EF4-FFF2-40B4-BE49-F238E27FC236}">
                <a16:creationId xmlns:a16="http://schemas.microsoft.com/office/drawing/2014/main" id="{0D84B70A-AD2A-B178-C78A-0A307E8DCDF3}"/>
              </a:ext>
            </a:extLst>
          </p:cNvPr>
          <p:cNvSpPr/>
          <p:nvPr/>
        </p:nvSpPr>
        <p:spPr>
          <a:xfrm>
            <a:off x="685800" y="37338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B016382-BEB9-33B4-7238-97957FF78EE2}"/>
              </a:ext>
            </a:extLst>
          </p:cNvPr>
          <p:cNvSpPr txBox="1"/>
          <p:nvPr/>
        </p:nvSpPr>
        <p:spPr>
          <a:xfrm>
            <a:off x="965200" y="36830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“Why not a big firm?”</a:t>
            </a:r>
            <a:r>
              <a:rPr lang="en-US" sz="1300">
                <a:solidFill>
                  <a:srgbClr val="6B7280"/>
                </a:solidFill>
                <a:latin typeface="Google Sans"/>
              </a:rPr>
              <a:t>  —  Same study, a fraction of the fee, and a plan you can build rather than a strategy deck.</a:t>
            </a:r>
            <a:endParaRPr lang="en-IN" sz="1300">
              <a:solidFill>
                <a:srgbClr val="6B7280"/>
              </a:solidFill>
              <a:latin typeface="Google Sans"/>
            </a:endParaRPr>
          </a:p>
        </p:txBody>
      </p:sp>
      <p:sp>
        <p:nvSpPr>
          <p:cNvPr id="20" name="Rectangle 19">
            <a:extLst>
              <a:ext uri="{FF2B5EF4-FFF2-40B4-BE49-F238E27FC236}">
                <a16:creationId xmlns:a16="http://schemas.microsoft.com/office/drawing/2014/main" id="{CC76C4BD-3BC4-F65E-7BF6-A768F3144F9F}"/>
              </a:ext>
            </a:extLst>
          </p:cNvPr>
          <p:cNvSpPr/>
          <p:nvPr/>
        </p:nvSpPr>
        <p:spPr>
          <a:xfrm>
            <a:off x="685800" y="4368800"/>
            <a:ext cx="127000" cy="127000"/>
          </a:xfrm>
          <a:prstGeom prst="rect">
            <a:avLst/>
          </a:prstGeom>
          <a:solidFill>
            <a:srgbClr val="E3A0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F2AAE264-4D1A-79B1-0C14-862003A93365}"/>
              </a:ext>
            </a:extLst>
          </p:cNvPr>
          <p:cNvSpPr txBox="1"/>
          <p:nvPr/>
        </p:nvSpPr>
        <p:spPr>
          <a:xfrm>
            <a:off x="965200" y="4318000"/>
            <a:ext cx="10538460" cy="400110"/>
          </a:xfrm>
          <a:prstGeom prst="rect">
            <a:avLst/>
          </a:prstGeom>
          <a:noFill/>
        </p:spPr>
        <p:txBody>
          <a:bodyPr vert="horz" wrap="square" lIns="0" tIns="0" rIns="0" bIns="0" rtlCol="0">
            <a:spAutoFit/>
          </a:bodyPr>
          <a:lstStyle/>
          <a:p>
            <a:r>
              <a:rPr lang="en-US" sz="1300" b="1">
                <a:solidFill>
                  <a:srgbClr val="141414"/>
                </a:solidFill>
                <a:latin typeface="Google Sans"/>
              </a:rPr>
              <a:t>“You will just tell us to hire you.”</a:t>
            </a:r>
            <a:r>
              <a:rPr lang="en-US" sz="1300">
                <a:solidFill>
                  <a:srgbClr val="6B7280"/>
                </a:solidFill>
                <a:latin typeface="Google Sans"/>
              </a:rPr>
              <a:t>  —  Fixed fee independent of any build decision. Every recommendation carries build / buy / partner options. The client owns everything.</a:t>
            </a:r>
            <a:endParaRPr lang="en-IN" sz="1300">
              <a:solidFill>
                <a:srgbClr val="6B7280"/>
              </a:solidFill>
              <a:latin typeface="Google Sans"/>
            </a:endParaRPr>
          </a:p>
        </p:txBody>
      </p:sp>
      <p:sp>
        <p:nvSpPr>
          <p:cNvPr id="22" name="Rectangle 21">
            <a:extLst>
              <a:ext uri="{FF2B5EF4-FFF2-40B4-BE49-F238E27FC236}">
                <a16:creationId xmlns:a16="http://schemas.microsoft.com/office/drawing/2014/main" id="{7E47CEB0-4479-0928-2C6A-D015B52D230E}"/>
              </a:ext>
            </a:extLst>
          </p:cNvPr>
          <p:cNvSpPr/>
          <p:nvPr/>
        </p:nvSpPr>
        <p:spPr>
          <a:xfrm>
            <a:off x="685800" y="5003800"/>
            <a:ext cx="127000" cy="127000"/>
          </a:xfrm>
          <a:prstGeom prst="rect">
            <a:avLst/>
          </a:prstGeom>
          <a:solidFill>
            <a:srgbClr val="1FA9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F97DED24-0F1A-12F2-06F4-2A6C64E204EE}"/>
              </a:ext>
            </a:extLst>
          </p:cNvPr>
          <p:cNvSpPr txBox="1"/>
          <p:nvPr/>
        </p:nvSpPr>
        <p:spPr>
          <a:xfrm>
            <a:off x="965200" y="49530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“Our data is not ready.”</a:t>
            </a:r>
            <a:r>
              <a:rPr lang="en-US" sz="1300">
                <a:solidFill>
                  <a:srgbClr val="6B7280"/>
                </a:solidFill>
                <a:latin typeface="Google Sans"/>
              </a:rPr>
              <a:t>  —  Data readiness is one of the things the study assesses. It is not an entry ticket.</a:t>
            </a:r>
            <a:endParaRPr lang="en-IN" sz="1300">
              <a:solidFill>
                <a:srgbClr val="6B7280"/>
              </a:solidFill>
              <a:latin typeface="Google Sans"/>
            </a:endParaRPr>
          </a:p>
        </p:txBody>
      </p:sp>
      <p:sp>
        <p:nvSpPr>
          <p:cNvPr id="24" name="Rectangle 23">
            <a:extLst>
              <a:ext uri="{FF2B5EF4-FFF2-40B4-BE49-F238E27FC236}">
                <a16:creationId xmlns:a16="http://schemas.microsoft.com/office/drawing/2014/main" id="{27F29026-F457-9190-062F-02A0A81A665F}"/>
              </a:ext>
            </a:extLst>
          </p:cNvPr>
          <p:cNvSpPr/>
          <p:nvPr/>
        </p:nvSpPr>
        <p:spPr>
          <a:xfrm>
            <a:off x="685800" y="56388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653BBB5A-36FF-872A-969E-953E61D5BE66}"/>
              </a:ext>
            </a:extLst>
          </p:cNvPr>
          <p:cNvSpPr txBox="1"/>
          <p:nvPr/>
        </p:nvSpPr>
        <p:spPr>
          <a:xfrm>
            <a:off x="965200" y="55880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“We can do this in-house.”</a:t>
            </a:r>
            <a:r>
              <a:rPr lang="en-US" sz="1300">
                <a:solidFill>
                  <a:srgbClr val="6B7280"/>
                </a:solidFill>
                <a:latin typeface="Google Sans"/>
              </a:rPr>
              <a:t>  —  Individual productivity, yes. Department-level re-architecture needs dedicated structure from outside the daily grind.</a:t>
            </a:r>
            <a:endParaRPr lang="en-IN" sz="1300">
              <a:solidFill>
                <a:srgbClr val="6B7280"/>
              </a:solidFill>
              <a:latin typeface="Google Sans"/>
            </a:endParaRPr>
          </a:p>
        </p:txBody>
      </p:sp>
    </p:spTree>
    <p:extLst>
      <p:ext uri="{BB962C8B-B14F-4D97-AF65-F5344CB8AC3E}">
        <p14:creationId xmlns:p14="http://schemas.microsoft.com/office/powerpoint/2010/main" val="408893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B5B1C8-2ABE-A304-D51A-95A5F78CB1F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7ED34E69-A582-F88B-E47A-08A82AAC8C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E6738C31-F8FE-E422-59AD-928E91B3EEFF}"/>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sp>
        <p:nvSpPr>
          <p:cNvPr id="7" name="TextBox 6">
            <a:extLst>
              <a:ext uri="{FF2B5EF4-FFF2-40B4-BE49-F238E27FC236}">
                <a16:creationId xmlns:a16="http://schemas.microsoft.com/office/drawing/2014/main" id="{954A300B-6874-4F9B-11A2-1FE7088D2C2F}"/>
              </a:ext>
            </a:extLst>
          </p:cNvPr>
          <p:cNvSpPr txBox="1"/>
          <p:nvPr/>
        </p:nvSpPr>
        <p:spPr>
          <a:xfrm>
            <a:off x="685800" y="546100"/>
            <a:ext cx="5080000" cy="200055"/>
          </a:xfrm>
          <a:prstGeom prst="rect">
            <a:avLst/>
          </a:prstGeom>
          <a:noFill/>
        </p:spPr>
        <p:txBody>
          <a:bodyPr vert="horz" wrap="square" lIns="0" tIns="0" rIns="0" bIns="0" rtlCol="0">
            <a:spAutoFit/>
          </a:bodyPr>
          <a:lstStyle/>
          <a:p>
            <a:r>
              <a:rPr lang="en-IN" sz="1300" b="1" spc="110">
                <a:solidFill>
                  <a:srgbClr val="141414"/>
                </a:solidFill>
                <a:latin typeface="Google Sans"/>
              </a:rPr>
              <a:t>WHY TECHJAYS</a:t>
            </a:r>
          </a:p>
        </p:txBody>
      </p:sp>
      <p:sp>
        <p:nvSpPr>
          <p:cNvPr id="8" name="TextBox 7">
            <a:extLst>
              <a:ext uri="{FF2B5EF4-FFF2-40B4-BE49-F238E27FC236}">
                <a16:creationId xmlns:a16="http://schemas.microsoft.com/office/drawing/2014/main" id="{30068934-C5A0-80F3-DF0E-5FA970477DBE}"/>
              </a:ext>
            </a:extLst>
          </p:cNvPr>
          <p:cNvSpPr txBox="1"/>
          <p:nvPr/>
        </p:nvSpPr>
        <p:spPr>
          <a:xfrm>
            <a:off x="7846060" y="56642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06  /  07</a:t>
            </a:r>
          </a:p>
        </p:txBody>
      </p:sp>
      <p:sp>
        <p:nvSpPr>
          <p:cNvPr id="9" name="TextBox 8">
            <a:extLst>
              <a:ext uri="{FF2B5EF4-FFF2-40B4-BE49-F238E27FC236}">
                <a16:creationId xmlns:a16="http://schemas.microsoft.com/office/drawing/2014/main" id="{17629B1E-39BF-4438-995A-B8853B78EFD1}"/>
              </a:ext>
            </a:extLst>
          </p:cNvPr>
          <p:cNvSpPr txBox="1"/>
          <p:nvPr/>
        </p:nvSpPr>
        <p:spPr>
          <a:xfrm>
            <a:off x="685800" y="1117600"/>
            <a:ext cx="10414000" cy="276999"/>
          </a:xfrm>
          <a:prstGeom prst="rect">
            <a:avLst/>
          </a:prstGeom>
          <a:noFill/>
        </p:spPr>
        <p:txBody>
          <a:bodyPr vert="horz" wrap="square" lIns="0" tIns="0" rIns="0" bIns="0" rtlCol="0">
            <a:noAutofit/>
          </a:bodyPr>
          <a:lstStyle/>
          <a:p>
            <a:r>
              <a:rPr lang="en-US" sz="3400" b="1">
                <a:solidFill>
                  <a:srgbClr val="141414"/>
                </a:solidFill>
                <a:latin typeface="Google Sans"/>
              </a:rPr>
              <a:t>Three reasons, each one verifiable.</a:t>
            </a:r>
            <a:endParaRPr lang="en-IN" sz="3400" b="1">
              <a:solidFill>
                <a:srgbClr val="141414"/>
              </a:solidFill>
              <a:latin typeface="Google Sans"/>
            </a:endParaRPr>
          </a:p>
        </p:txBody>
      </p:sp>
      <p:sp>
        <p:nvSpPr>
          <p:cNvPr id="10" name="TextBox 9">
            <a:extLst>
              <a:ext uri="{FF2B5EF4-FFF2-40B4-BE49-F238E27FC236}">
                <a16:creationId xmlns:a16="http://schemas.microsoft.com/office/drawing/2014/main" id="{6AF3D494-FF6F-63A2-7F0C-96965D2CEB08}"/>
              </a:ext>
            </a:extLst>
          </p:cNvPr>
          <p:cNvSpPr txBox="1"/>
          <p:nvPr/>
        </p:nvSpPr>
        <p:spPr>
          <a:xfrm>
            <a:off x="685800" y="1981200"/>
            <a:ext cx="1270000" cy="276999"/>
          </a:xfrm>
          <a:prstGeom prst="rect">
            <a:avLst/>
          </a:prstGeom>
          <a:noFill/>
        </p:spPr>
        <p:txBody>
          <a:bodyPr vert="horz" wrap="square" lIns="0" tIns="0" rIns="0" bIns="0" rtlCol="0">
            <a:noAutofit/>
          </a:bodyPr>
          <a:lstStyle/>
          <a:p>
            <a:r>
              <a:rPr lang="en-IN" sz="3800" b="1">
                <a:solidFill>
                  <a:srgbClr val="6870F8"/>
                </a:solidFill>
                <a:latin typeface="Google Sans"/>
              </a:rPr>
              <a:t>01</a:t>
            </a:r>
          </a:p>
        </p:txBody>
      </p:sp>
      <p:sp>
        <p:nvSpPr>
          <p:cNvPr id="11" name="TextBox 10">
            <a:extLst>
              <a:ext uri="{FF2B5EF4-FFF2-40B4-BE49-F238E27FC236}">
                <a16:creationId xmlns:a16="http://schemas.microsoft.com/office/drawing/2014/main" id="{48AC0A5D-0F3C-C914-D733-8AC1B2344D29}"/>
              </a:ext>
            </a:extLst>
          </p:cNvPr>
          <p:cNvSpPr txBox="1"/>
          <p:nvPr/>
        </p:nvSpPr>
        <p:spPr>
          <a:xfrm>
            <a:off x="685800" y="2667000"/>
            <a:ext cx="3148753" cy="276999"/>
          </a:xfrm>
          <a:prstGeom prst="rect">
            <a:avLst/>
          </a:prstGeom>
          <a:noFill/>
        </p:spPr>
        <p:txBody>
          <a:bodyPr vert="horz" wrap="square" lIns="0" tIns="0" rIns="0" bIns="0" rtlCol="0">
            <a:noAutofit/>
          </a:bodyPr>
          <a:lstStyle/>
          <a:p>
            <a:r>
              <a:rPr lang="en-US" sz="1700" b="1">
                <a:solidFill>
                  <a:srgbClr val="141414"/>
                </a:solidFill>
                <a:latin typeface="Google Sans"/>
              </a:rPr>
              <a:t>We build what we recommend</a:t>
            </a:r>
            <a:endParaRPr lang="en-IN" sz="1700" b="1">
              <a:solidFill>
                <a:srgbClr val="141414"/>
              </a:solidFill>
              <a:latin typeface="Google Sans"/>
            </a:endParaRPr>
          </a:p>
        </p:txBody>
      </p:sp>
      <p:sp>
        <p:nvSpPr>
          <p:cNvPr id="12" name="TextBox 11">
            <a:extLst>
              <a:ext uri="{FF2B5EF4-FFF2-40B4-BE49-F238E27FC236}">
                <a16:creationId xmlns:a16="http://schemas.microsoft.com/office/drawing/2014/main" id="{AC652CE2-358D-5D33-F186-5A11EE3B6FFE}"/>
              </a:ext>
            </a:extLst>
          </p:cNvPr>
          <p:cNvSpPr txBox="1"/>
          <p:nvPr/>
        </p:nvSpPr>
        <p:spPr>
          <a:xfrm>
            <a:off x="685800" y="3556000"/>
            <a:ext cx="3148753" cy="276999"/>
          </a:xfrm>
          <a:prstGeom prst="rect">
            <a:avLst/>
          </a:prstGeom>
          <a:noFill/>
        </p:spPr>
        <p:txBody>
          <a:bodyPr vert="horz" wrap="square" lIns="0" tIns="0" rIns="0" bIns="0" rtlCol="0">
            <a:noAutofit/>
          </a:bodyPr>
          <a:lstStyle/>
          <a:p>
            <a:r>
              <a:rPr lang="en-US" sz="1200">
                <a:solidFill>
                  <a:srgbClr val="6B7280"/>
                </a:solidFill>
                <a:latin typeface="Google Sans"/>
              </a:rPr>
              <a:t>Estimates come from people who design and deliver these systems every week, so the plan is buildable, not theoretical. Because we can be asked to execute it, we live with our own advice: an incentive no pure-strategy firm has.</a:t>
            </a:r>
            <a:endParaRPr lang="en-IN" sz="1200">
              <a:solidFill>
                <a:srgbClr val="6B7280"/>
              </a:solidFill>
              <a:latin typeface="Google Sans"/>
            </a:endParaRPr>
          </a:p>
        </p:txBody>
      </p:sp>
      <p:cxnSp>
        <p:nvCxnSpPr>
          <p:cNvPr id="13" name="Straight Connector 12">
            <a:extLst>
              <a:ext uri="{FF2B5EF4-FFF2-40B4-BE49-F238E27FC236}">
                <a16:creationId xmlns:a16="http://schemas.microsoft.com/office/drawing/2014/main" id="{D786152E-CDB7-EA37-BEF6-72DEF9682BD5}"/>
              </a:ext>
            </a:extLst>
          </p:cNvPr>
          <p:cNvCxnSpPr/>
          <p:nvPr/>
        </p:nvCxnSpPr>
        <p:spPr>
          <a:xfrm>
            <a:off x="4063153" y="1981200"/>
            <a:ext cx="0" cy="368300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372BE90-A315-D63C-8355-26D8E7E50C37}"/>
              </a:ext>
            </a:extLst>
          </p:cNvPr>
          <p:cNvSpPr txBox="1"/>
          <p:nvPr/>
        </p:nvSpPr>
        <p:spPr>
          <a:xfrm>
            <a:off x="4291753" y="1981200"/>
            <a:ext cx="1270000" cy="276999"/>
          </a:xfrm>
          <a:prstGeom prst="rect">
            <a:avLst/>
          </a:prstGeom>
          <a:noFill/>
        </p:spPr>
        <p:txBody>
          <a:bodyPr vert="horz" wrap="square" lIns="0" tIns="0" rIns="0" bIns="0" rtlCol="0">
            <a:noAutofit/>
          </a:bodyPr>
          <a:lstStyle/>
          <a:p>
            <a:r>
              <a:rPr lang="en-IN" sz="3800" b="1">
                <a:solidFill>
                  <a:srgbClr val="E3A03C"/>
                </a:solidFill>
                <a:latin typeface="Google Sans"/>
              </a:rPr>
              <a:t>02</a:t>
            </a:r>
          </a:p>
        </p:txBody>
      </p:sp>
      <p:sp>
        <p:nvSpPr>
          <p:cNvPr id="15" name="TextBox 14">
            <a:extLst>
              <a:ext uri="{FF2B5EF4-FFF2-40B4-BE49-F238E27FC236}">
                <a16:creationId xmlns:a16="http://schemas.microsoft.com/office/drawing/2014/main" id="{8FEE86B3-0FE5-ED86-7CAD-4C5E8B90E8CE}"/>
              </a:ext>
            </a:extLst>
          </p:cNvPr>
          <p:cNvSpPr txBox="1"/>
          <p:nvPr/>
        </p:nvSpPr>
        <p:spPr>
          <a:xfrm>
            <a:off x="4291753" y="2667000"/>
            <a:ext cx="3148753" cy="276999"/>
          </a:xfrm>
          <a:prstGeom prst="rect">
            <a:avLst/>
          </a:prstGeom>
          <a:noFill/>
        </p:spPr>
        <p:txBody>
          <a:bodyPr vert="horz" wrap="square" lIns="0" tIns="0" rIns="0" bIns="0" rtlCol="0">
            <a:noAutofit/>
          </a:bodyPr>
          <a:lstStyle/>
          <a:p>
            <a:r>
              <a:rPr lang="en-US" sz="1700" b="1">
                <a:solidFill>
                  <a:srgbClr val="141414"/>
                </a:solidFill>
                <a:latin typeface="Google Sans"/>
              </a:rPr>
              <a:t>Engineering depth at a mid-market price</a:t>
            </a:r>
            <a:endParaRPr lang="en-IN" sz="1700" b="1">
              <a:solidFill>
                <a:srgbClr val="141414"/>
              </a:solidFill>
              <a:latin typeface="Google Sans"/>
            </a:endParaRPr>
          </a:p>
        </p:txBody>
      </p:sp>
      <p:sp>
        <p:nvSpPr>
          <p:cNvPr id="16" name="TextBox 15">
            <a:extLst>
              <a:ext uri="{FF2B5EF4-FFF2-40B4-BE49-F238E27FC236}">
                <a16:creationId xmlns:a16="http://schemas.microsoft.com/office/drawing/2014/main" id="{53E84BAA-B86B-4386-6346-F7CAE4A39C6E}"/>
              </a:ext>
            </a:extLst>
          </p:cNvPr>
          <p:cNvSpPr txBox="1"/>
          <p:nvPr/>
        </p:nvSpPr>
        <p:spPr>
          <a:xfrm>
            <a:off x="4291753" y="3556000"/>
            <a:ext cx="3148753" cy="276999"/>
          </a:xfrm>
          <a:prstGeom prst="rect">
            <a:avLst/>
          </a:prstGeom>
          <a:noFill/>
        </p:spPr>
        <p:txBody>
          <a:bodyPr vert="horz" wrap="square" lIns="0" tIns="0" rIns="0" bIns="0" rtlCol="0">
            <a:noAutofit/>
          </a:bodyPr>
          <a:lstStyle/>
          <a:p>
            <a:r>
              <a:rPr lang="en-US" sz="1200">
                <a:solidFill>
                  <a:srgbClr val="6B7280"/>
                </a:solidFill>
                <a:latin typeface="Google Sans"/>
              </a:rPr>
              <a:t>A comparable study from the big firms runs several times our fee and stops at strategy altitude. We work at workflow level: the actual steps, handoffs, and systems, where the value hides.</a:t>
            </a:r>
            <a:endParaRPr lang="en-IN" sz="1200">
              <a:solidFill>
                <a:srgbClr val="6B7280"/>
              </a:solidFill>
              <a:latin typeface="Google Sans"/>
            </a:endParaRPr>
          </a:p>
        </p:txBody>
      </p:sp>
      <p:cxnSp>
        <p:nvCxnSpPr>
          <p:cNvPr id="17" name="Straight Connector 16">
            <a:extLst>
              <a:ext uri="{FF2B5EF4-FFF2-40B4-BE49-F238E27FC236}">
                <a16:creationId xmlns:a16="http://schemas.microsoft.com/office/drawing/2014/main" id="{D62D0309-6FC4-1864-D54B-AA8961787016}"/>
              </a:ext>
            </a:extLst>
          </p:cNvPr>
          <p:cNvCxnSpPr/>
          <p:nvPr/>
        </p:nvCxnSpPr>
        <p:spPr>
          <a:xfrm>
            <a:off x="7669106" y="1981200"/>
            <a:ext cx="0" cy="368300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9B70D0EF-A2C1-B1B3-4660-255AC2A21C00}"/>
              </a:ext>
            </a:extLst>
          </p:cNvPr>
          <p:cNvSpPr txBox="1"/>
          <p:nvPr/>
        </p:nvSpPr>
        <p:spPr>
          <a:xfrm>
            <a:off x="7897706" y="1981200"/>
            <a:ext cx="1270000" cy="276999"/>
          </a:xfrm>
          <a:prstGeom prst="rect">
            <a:avLst/>
          </a:prstGeom>
          <a:noFill/>
        </p:spPr>
        <p:txBody>
          <a:bodyPr vert="horz" wrap="square" lIns="0" tIns="0" rIns="0" bIns="0" rtlCol="0">
            <a:noAutofit/>
          </a:bodyPr>
          <a:lstStyle/>
          <a:p>
            <a:r>
              <a:rPr lang="en-IN" sz="3800" b="1">
                <a:solidFill>
                  <a:srgbClr val="1FA98A"/>
                </a:solidFill>
                <a:latin typeface="Google Sans"/>
              </a:rPr>
              <a:t>03</a:t>
            </a:r>
          </a:p>
        </p:txBody>
      </p:sp>
      <p:sp>
        <p:nvSpPr>
          <p:cNvPr id="19" name="TextBox 18">
            <a:extLst>
              <a:ext uri="{FF2B5EF4-FFF2-40B4-BE49-F238E27FC236}">
                <a16:creationId xmlns:a16="http://schemas.microsoft.com/office/drawing/2014/main" id="{D27C9C50-DE05-64C6-DE4C-DD12AA9390ED}"/>
              </a:ext>
            </a:extLst>
          </p:cNvPr>
          <p:cNvSpPr txBox="1"/>
          <p:nvPr/>
        </p:nvSpPr>
        <p:spPr>
          <a:xfrm>
            <a:off x="7897706" y="2667000"/>
            <a:ext cx="3148753" cy="276999"/>
          </a:xfrm>
          <a:prstGeom prst="rect">
            <a:avLst/>
          </a:prstGeom>
          <a:noFill/>
        </p:spPr>
        <p:txBody>
          <a:bodyPr vert="horz" wrap="square" lIns="0" tIns="0" rIns="0" bIns="0" rtlCol="0">
            <a:noAutofit/>
          </a:bodyPr>
          <a:lstStyle/>
          <a:p>
            <a:r>
              <a:rPr lang="en-IN" sz="1700" b="1">
                <a:solidFill>
                  <a:srgbClr val="141414"/>
                </a:solidFill>
                <a:latin typeface="Google Sans"/>
              </a:rPr>
              <a:t>Independence by design</a:t>
            </a:r>
          </a:p>
        </p:txBody>
      </p:sp>
      <p:sp>
        <p:nvSpPr>
          <p:cNvPr id="20" name="TextBox 19">
            <a:extLst>
              <a:ext uri="{FF2B5EF4-FFF2-40B4-BE49-F238E27FC236}">
                <a16:creationId xmlns:a16="http://schemas.microsoft.com/office/drawing/2014/main" id="{8C05C78E-8E5E-4185-B6C2-3556F1D7E12D}"/>
              </a:ext>
            </a:extLst>
          </p:cNvPr>
          <p:cNvSpPr txBox="1"/>
          <p:nvPr/>
        </p:nvSpPr>
        <p:spPr>
          <a:xfrm>
            <a:off x="7897706" y="3556000"/>
            <a:ext cx="3148753" cy="276999"/>
          </a:xfrm>
          <a:prstGeom prst="rect">
            <a:avLst/>
          </a:prstGeom>
          <a:noFill/>
        </p:spPr>
        <p:txBody>
          <a:bodyPr vert="horz" wrap="square" lIns="0" tIns="0" rIns="0" bIns="0" rtlCol="0">
            <a:noAutofit/>
          </a:bodyPr>
          <a:lstStyle/>
          <a:p>
            <a:r>
              <a:rPr lang="en-US" sz="1200">
                <a:solidFill>
                  <a:srgbClr val="6B7280"/>
                </a:solidFill>
                <a:latin typeface="Google Sans"/>
              </a:rPr>
              <a:t>Fixed fee, no obligation to build with us, build / buy / partner options on every recommendation, and the client owns every artifact. If the right answer is their in-house team, the report says so.</a:t>
            </a:r>
            <a:endParaRPr lang="en-IN" sz="1200">
              <a:solidFill>
                <a:srgbClr val="6B7280"/>
              </a:solidFill>
              <a:latin typeface="Google Sans"/>
            </a:endParaRPr>
          </a:p>
        </p:txBody>
      </p:sp>
      <p:cxnSp>
        <p:nvCxnSpPr>
          <p:cNvPr id="21" name="Straight Connector 20">
            <a:extLst>
              <a:ext uri="{FF2B5EF4-FFF2-40B4-BE49-F238E27FC236}">
                <a16:creationId xmlns:a16="http://schemas.microsoft.com/office/drawing/2014/main" id="{E508A24A-3896-33FE-8182-38FA9856FF10}"/>
              </a:ext>
            </a:extLst>
          </p:cNvPr>
          <p:cNvCxnSpPr/>
          <p:nvPr/>
        </p:nvCxnSpPr>
        <p:spPr>
          <a:xfrm>
            <a:off x="685800" y="5867400"/>
            <a:ext cx="10817860" cy="0"/>
          </a:xfrm>
          <a:prstGeom prst="line">
            <a:avLst/>
          </a:prstGeom>
          <a:ln w="12700">
            <a:solidFill>
              <a:srgbClr val="E7E7EC"/>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9910CA4D-F5D5-FCB9-0D2D-AF004B28C400}"/>
              </a:ext>
            </a:extLst>
          </p:cNvPr>
          <p:cNvSpPr txBox="1"/>
          <p:nvPr/>
        </p:nvSpPr>
        <p:spPr>
          <a:xfrm>
            <a:off x="685800" y="5994400"/>
            <a:ext cx="10414000" cy="276999"/>
          </a:xfrm>
          <a:prstGeom prst="rect">
            <a:avLst/>
          </a:prstGeom>
          <a:noFill/>
        </p:spPr>
        <p:txBody>
          <a:bodyPr vert="horz" wrap="square" lIns="0" tIns="0" rIns="0" bIns="0" rtlCol="0">
            <a:noAutofit/>
          </a:bodyPr>
          <a:lstStyle/>
          <a:p>
            <a:r>
              <a:rPr lang="en-US" sz="1100">
                <a:solidFill>
                  <a:srgbClr val="424B5B"/>
                </a:solidFill>
                <a:latin typeface="Google Sans"/>
              </a:rPr>
              <a:t>Proof today: delivery heritage across AI and data programs, including a three-week logistics process redesigned to run in three to four days. The first pilot’s case study slots in here.</a:t>
            </a:r>
            <a:endParaRPr lang="en-IN" sz="1100">
              <a:solidFill>
                <a:srgbClr val="424B5B"/>
              </a:solidFill>
              <a:latin typeface="Google Sans"/>
            </a:endParaRPr>
          </a:p>
        </p:txBody>
      </p:sp>
    </p:spTree>
    <p:extLst>
      <p:ext uri="{BB962C8B-B14F-4D97-AF65-F5344CB8AC3E}">
        <p14:creationId xmlns:p14="http://schemas.microsoft.com/office/powerpoint/2010/main" val="2123423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0AC0A1-A4D2-3ABD-0D21-C9D5FE1C7C9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287000" y="-566420"/>
            <a:ext cx="2832100" cy="2575560"/>
          </a:xfrm>
          <a:prstGeom prst="rect">
            <a:avLst/>
          </a:prstGeom>
        </p:spPr>
      </p:pic>
      <p:pic>
        <p:nvPicPr>
          <p:cNvPr id="5" name="Picture 4">
            <a:extLst>
              <a:ext uri="{FF2B5EF4-FFF2-40B4-BE49-F238E27FC236}">
                <a16:creationId xmlns:a16="http://schemas.microsoft.com/office/drawing/2014/main" id="{EF869047-F5C9-33BD-D856-F80E722396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85800" y="6455410"/>
            <a:ext cx="154940" cy="140970"/>
          </a:xfrm>
          <a:prstGeom prst="rect">
            <a:avLst/>
          </a:prstGeom>
        </p:spPr>
      </p:pic>
      <p:sp>
        <p:nvSpPr>
          <p:cNvPr id="6" name="TextBox 5">
            <a:extLst>
              <a:ext uri="{FF2B5EF4-FFF2-40B4-BE49-F238E27FC236}">
                <a16:creationId xmlns:a16="http://schemas.microsoft.com/office/drawing/2014/main" id="{D39174A0-1422-1DFB-8956-7490F6FDB4A4}"/>
              </a:ext>
            </a:extLst>
          </p:cNvPr>
          <p:cNvSpPr txBox="1"/>
          <p:nvPr/>
        </p:nvSpPr>
        <p:spPr>
          <a:xfrm>
            <a:off x="939800" y="6418580"/>
            <a:ext cx="6350000" cy="276999"/>
          </a:xfrm>
          <a:prstGeom prst="rect">
            <a:avLst/>
          </a:prstGeom>
          <a:noFill/>
        </p:spPr>
        <p:txBody>
          <a:bodyPr vert="horz" wrap="square" lIns="0" tIns="0" rIns="0" bIns="0" rtlCol="0">
            <a:noAutofit/>
          </a:bodyPr>
          <a:lstStyle/>
          <a:p>
            <a:r>
              <a:rPr lang="en-US" sz="950">
                <a:solidFill>
                  <a:srgbClr val="7A828E"/>
                </a:solidFill>
                <a:latin typeface="Google Sans"/>
              </a:rPr>
              <a:t>Confidential    ·    Techjays × AI Consulting Practice</a:t>
            </a:r>
            <a:endParaRPr lang="en-IN" sz="950">
              <a:solidFill>
                <a:srgbClr val="7A828E"/>
              </a:solidFill>
              <a:latin typeface="Google Sans"/>
            </a:endParaRPr>
          </a:p>
        </p:txBody>
      </p:sp>
      <p:pic>
        <p:nvPicPr>
          <p:cNvPr id="8" name="Picture 7">
            <a:extLst>
              <a:ext uri="{FF2B5EF4-FFF2-40B4-BE49-F238E27FC236}">
                <a16:creationId xmlns:a16="http://schemas.microsoft.com/office/drawing/2014/main" id="{EE28856E-DF74-F981-60CA-A9ACB4F8F8E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85800" y="508000"/>
            <a:ext cx="1574800" cy="342900"/>
          </a:xfrm>
          <a:prstGeom prst="rect">
            <a:avLst/>
          </a:prstGeom>
        </p:spPr>
      </p:pic>
      <p:sp>
        <p:nvSpPr>
          <p:cNvPr id="9" name="TextBox 8">
            <a:extLst>
              <a:ext uri="{FF2B5EF4-FFF2-40B4-BE49-F238E27FC236}">
                <a16:creationId xmlns:a16="http://schemas.microsoft.com/office/drawing/2014/main" id="{647B332E-1DA9-B62C-171B-25CFA3538BAE}"/>
              </a:ext>
            </a:extLst>
          </p:cNvPr>
          <p:cNvSpPr txBox="1"/>
          <p:nvPr/>
        </p:nvSpPr>
        <p:spPr>
          <a:xfrm>
            <a:off x="7846060" y="584200"/>
            <a:ext cx="3657600" cy="176972"/>
          </a:xfrm>
          <a:prstGeom prst="rect">
            <a:avLst/>
          </a:prstGeom>
          <a:noFill/>
        </p:spPr>
        <p:txBody>
          <a:bodyPr vert="horz" wrap="square" lIns="0" tIns="0" rIns="0" bIns="0" rtlCol="0">
            <a:spAutoFit/>
          </a:bodyPr>
          <a:lstStyle/>
          <a:p>
            <a:pPr algn="r"/>
            <a:r>
              <a:rPr lang="en-IN" sz="1150" b="1" spc="110">
                <a:solidFill>
                  <a:srgbClr val="6B7280"/>
                </a:solidFill>
                <a:latin typeface="Google Sans"/>
              </a:rPr>
              <a:t>07  /  07</a:t>
            </a:r>
          </a:p>
        </p:txBody>
      </p:sp>
      <p:sp>
        <p:nvSpPr>
          <p:cNvPr id="10" name="TextBox 9">
            <a:extLst>
              <a:ext uri="{FF2B5EF4-FFF2-40B4-BE49-F238E27FC236}">
                <a16:creationId xmlns:a16="http://schemas.microsoft.com/office/drawing/2014/main" id="{FD4DF1D5-0A99-2471-39FC-7EF11960807C}"/>
              </a:ext>
            </a:extLst>
          </p:cNvPr>
          <p:cNvSpPr txBox="1"/>
          <p:nvPr/>
        </p:nvSpPr>
        <p:spPr>
          <a:xfrm>
            <a:off x="685800" y="2159000"/>
            <a:ext cx="6350000" cy="200055"/>
          </a:xfrm>
          <a:prstGeom prst="rect">
            <a:avLst/>
          </a:prstGeom>
          <a:noFill/>
        </p:spPr>
        <p:txBody>
          <a:bodyPr vert="horz" wrap="square" lIns="0" tIns="0" rIns="0" bIns="0" rtlCol="0">
            <a:spAutoFit/>
          </a:bodyPr>
          <a:lstStyle/>
          <a:p>
            <a:r>
              <a:rPr lang="en-IN" sz="1300" b="1" spc="110">
                <a:solidFill>
                  <a:srgbClr val="6870F8"/>
                </a:solidFill>
                <a:latin typeface="Google Sans"/>
              </a:rPr>
              <a:t>THE PATH FORWARD</a:t>
            </a:r>
          </a:p>
        </p:txBody>
      </p:sp>
      <p:sp>
        <p:nvSpPr>
          <p:cNvPr id="11" name="TextBox 10">
            <a:extLst>
              <a:ext uri="{FF2B5EF4-FFF2-40B4-BE49-F238E27FC236}">
                <a16:creationId xmlns:a16="http://schemas.microsoft.com/office/drawing/2014/main" id="{587CD3BB-DFD4-25E0-5338-4F8ACCF589F8}"/>
              </a:ext>
            </a:extLst>
          </p:cNvPr>
          <p:cNvSpPr txBox="1"/>
          <p:nvPr/>
        </p:nvSpPr>
        <p:spPr>
          <a:xfrm>
            <a:off x="685800" y="2489200"/>
            <a:ext cx="10541000" cy="276999"/>
          </a:xfrm>
          <a:prstGeom prst="rect">
            <a:avLst/>
          </a:prstGeom>
          <a:noFill/>
        </p:spPr>
        <p:txBody>
          <a:bodyPr vert="horz" wrap="square" lIns="0" tIns="0" rIns="0" bIns="0" rtlCol="0">
            <a:noAutofit/>
          </a:bodyPr>
          <a:lstStyle/>
          <a:p>
            <a:r>
              <a:rPr lang="en-US" sz="4000" b="1">
                <a:solidFill>
                  <a:srgbClr val="141414"/>
                </a:solidFill>
                <a:latin typeface="Google Sans"/>
              </a:rPr>
              <a:t>Priced so the decision is easy. Scoped so the plan is buildable.</a:t>
            </a:r>
            <a:endParaRPr lang="en-IN" sz="4000" b="1">
              <a:solidFill>
                <a:srgbClr val="141414"/>
              </a:solidFill>
              <a:latin typeface="Google Sans"/>
            </a:endParaRPr>
          </a:p>
        </p:txBody>
      </p:sp>
      <p:sp>
        <p:nvSpPr>
          <p:cNvPr id="12" name="TextBox 11">
            <a:extLst>
              <a:ext uri="{FF2B5EF4-FFF2-40B4-BE49-F238E27FC236}">
                <a16:creationId xmlns:a16="http://schemas.microsoft.com/office/drawing/2014/main" id="{EF5883C5-2C2B-130F-E928-54C869E054D0}"/>
              </a:ext>
            </a:extLst>
          </p:cNvPr>
          <p:cNvSpPr txBox="1"/>
          <p:nvPr/>
        </p:nvSpPr>
        <p:spPr>
          <a:xfrm>
            <a:off x="685800" y="3937000"/>
            <a:ext cx="9652000" cy="276999"/>
          </a:xfrm>
          <a:prstGeom prst="rect">
            <a:avLst/>
          </a:prstGeom>
          <a:noFill/>
        </p:spPr>
        <p:txBody>
          <a:bodyPr vert="horz" wrap="square" lIns="0" tIns="0" rIns="0" bIns="0" rtlCol="0">
            <a:noAutofit/>
          </a:bodyPr>
          <a:lstStyle/>
          <a:p>
            <a:r>
              <a:rPr lang="en-US" sz="1550">
                <a:solidFill>
                  <a:srgbClr val="6B7280"/>
                </a:solidFill>
                <a:latin typeface="Google Sans"/>
              </a:rPr>
              <a:t>Honest enough that clients trust the answer, whichever way they build.</a:t>
            </a:r>
            <a:endParaRPr lang="en-IN" sz="1550">
              <a:solidFill>
                <a:srgbClr val="6B7280"/>
              </a:solidFill>
              <a:latin typeface="Google Sans"/>
            </a:endParaRPr>
          </a:p>
        </p:txBody>
      </p:sp>
      <p:sp>
        <p:nvSpPr>
          <p:cNvPr id="13" name="Rectangle 12">
            <a:extLst>
              <a:ext uri="{FF2B5EF4-FFF2-40B4-BE49-F238E27FC236}">
                <a16:creationId xmlns:a16="http://schemas.microsoft.com/office/drawing/2014/main" id="{295904BF-6D42-B946-5FA4-41820328B180}"/>
              </a:ext>
            </a:extLst>
          </p:cNvPr>
          <p:cNvSpPr/>
          <p:nvPr/>
        </p:nvSpPr>
        <p:spPr>
          <a:xfrm>
            <a:off x="685800" y="4775200"/>
            <a:ext cx="127000" cy="127000"/>
          </a:xfrm>
          <a:prstGeom prst="rect">
            <a:avLst/>
          </a:prstGeom>
          <a:solidFill>
            <a:srgbClr val="6870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A0A8B439-7191-B5F2-5B09-1425A6337CFC}"/>
              </a:ext>
            </a:extLst>
          </p:cNvPr>
          <p:cNvSpPr txBox="1"/>
          <p:nvPr/>
        </p:nvSpPr>
        <p:spPr>
          <a:xfrm>
            <a:off x="965200" y="47244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Now</a:t>
            </a:r>
            <a:r>
              <a:rPr lang="en-US" sz="1300">
                <a:solidFill>
                  <a:srgbClr val="6B7280"/>
                </a:solidFill>
                <a:latin typeface="Google Sans"/>
              </a:rPr>
              <a:t>  —  Feedback on the framing: the one-liner, the objection answers, the qualification profile.</a:t>
            </a:r>
            <a:endParaRPr lang="en-IN" sz="1300">
              <a:solidFill>
                <a:srgbClr val="6B7280"/>
              </a:solidFill>
              <a:latin typeface="Google Sans"/>
            </a:endParaRPr>
          </a:p>
        </p:txBody>
      </p:sp>
      <p:sp>
        <p:nvSpPr>
          <p:cNvPr id="15" name="Rectangle 14">
            <a:extLst>
              <a:ext uri="{FF2B5EF4-FFF2-40B4-BE49-F238E27FC236}">
                <a16:creationId xmlns:a16="http://schemas.microsoft.com/office/drawing/2014/main" id="{62D65586-A151-BD03-B20E-AC0812EBE354}"/>
              </a:ext>
            </a:extLst>
          </p:cNvPr>
          <p:cNvSpPr/>
          <p:nvPr/>
        </p:nvSpPr>
        <p:spPr>
          <a:xfrm>
            <a:off x="685800" y="5334000"/>
            <a:ext cx="127000" cy="127000"/>
          </a:xfrm>
          <a:prstGeom prst="rect">
            <a:avLst/>
          </a:prstGeom>
          <a:solidFill>
            <a:srgbClr val="E3A0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53F5565-1CB7-0F4A-2906-E393A5DFEC20}"/>
              </a:ext>
            </a:extLst>
          </p:cNvPr>
          <p:cNvSpPr txBox="1"/>
          <p:nvPr/>
        </p:nvSpPr>
        <p:spPr>
          <a:xfrm>
            <a:off x="965200" y="52832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Next</a:t>
            </a:r>
            <a:r>
              <a:rPr lang="en-US" sz="1300">
                <a:solidFill>
                  <a:srgbClr val="6B7280"/>
                </a:solidFill>
                <a:latin typeface="Google Sans"/>
              </a:rPr>
              <a:t>  —  Build the anonymized sample report from real engagements, the proof artifact every conversation needs.</a:t>
            </a:r>
            <a:endParaRPr lang="en-IN" sz="1300">
              <a:solidFill>
                <a:srgbClr val="6B7280"/>
              </a:solidFill>
              <a:latin typeface="Google Sans"/>
            </a:endParaRPr>
          </a:p>
        </p:txBody>
      </p:sp>
      <p:sp>
        <p:nvSpPr>
          <p:cNvPr id="17" name="Rectangle 16">
            <a:extLst>
              <a:ext uri="{FF2B5EF4-FFF2-40B4-BE49-F238E27FC236}">
                <a16:creationId xmlns:a16="http://schemas.microsoft.com/office/drawing/2014/main" id="{EC468D9E-90F4-8E34-CED8-C0FB2CF75E0C}"/>
              </a:ext>
            </a:extLst>
          </p:cNvPr>
          <p:cNvSpPr/>
          <p:nvPr/>
        </p:nvSpPr>
        <p:spPr>
          <a:xfrm>
            <a:off x="685800" y="5892800"/>
            <a:ext cx="127000" cy="127000"/>
          </a:xfrm>
          <a:prstGeom prst="rect">
            <a:avLst/>
          </a:prstGeom>
          <a:solidFill>
            <a:srgbClr val="1FA98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28BF565-E8A4-FBAF-8372-E5E0E04B44E5}"/>
              </a:ext>
            </a:extLst>
          </p:cNvPr>
          <p:cNvSpPr txBox="1"/>
          <p:nvPr/>
        </p:nvSpPr>
        <p:spPr>
          <a:xfrm>
            <a:off x="965200" y="5842000"/>
            <a:ext cx="10538460" cy="200055"/>
          </a:xfrm>
          <a:prstGeom prst="rect">
            <a:avLst/>
          </a:prstGeom>
          <a:noFill/>
        </p:spPr>
        <p:txBody>
          <a:bodyPr vert="horz" wrap="square" lIns="0" tIns="0" rIns="0" bIns="0" rtlCol="0">
            <a:spAutoFit/>
          </a:bodyPr>
          <a:lstStyle/>
          <a:p>
            <a:r>
              <a:rPr lang="en-US" sz="1300" b="1">
                <a:solidFill>
                  <a:srgbClr val="141414"/>
                </a:solidFill>
                <a:latin typeface="Google Sans"/>
              </a:rPr>
              <a:t>Then</a:t>
            </a:r>
            <a:r>
              <a:rPr lang="en-US" sz="1300">
                <a:solidFill>
                  <a:srgbClr val="6B7280"/>
                </a:solidFill>
                <a:latin typeface="Google Sans"/>
              </a:rPr>
              <a:t>  —  Put it in front of the first prospect conversations and refine from what the market says back.</a:t>
            </a:r>
            <a:endParaRPr lang="en-IN" sz="1300">
              <a:solidFill>
                <a:srgbClr val="6B7280"/>
              </a:solidFill>
              <a:latin typeface="Google Sans"/>
            </a:endParaRPr>
          </a:p>
        </p:txBody>
      </p:sp>
    </p:spTree>
    <p:extLst>
      <p:ext uri="{BB962C8B-B14F-4D97-AF65-F5344CB8AC3E}">
        <p14:creationId xmlns:p14="http://schemas.microsoft.com/office/powerpoint/2010/main" val="647428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1024</Words>
  <Application>Microsoft Office PowerPoint</Application>
  <PresentationFormat>Custom</PresentationFormat>
  <Paragraphs>87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Balasubramanian GR</dc:creator>
  <cp:lastModifiedBy>Balasubramanian GR</cp:lastModifiedBy>
  <cp:revision>1</cp:revision>
  <dcterms:created xsi:type="dcterms:W3CDTF">2026-08-04T06:47:47Z</dcterms:created>
  <dcterms:modified xsi:type="dcterms:W3CDTF">2026-08-04T06:47:47Z</dcterms:modified>
</cp:coreProperties>
</file>